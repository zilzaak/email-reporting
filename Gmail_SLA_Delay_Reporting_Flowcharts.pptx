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291840" cy="38404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DAFFODIL INTERNATIONAL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Gmail Delay &amp; SLA Reporting System</a:t>
            </a:r>
          </a:p>
          <a:p>
            <a:pPr>
              <a:spcBef>
                <a:spcPts val="1000"/>
              </a:spcBef>
              <a:defRPr sz="2000">
                <a:solidFill>
                  <a:srgbClr val="94A3B8"/>
                </a:solidFill>
              </a:defRPr>
            </a:pPr>
            <a:r>
              <a:t>Complete Mechanism, Architecture &amp; Dual-Scheduler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37560"/>
            <a:ext cx="1033272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OVERVIEW &amp; SPECIFICATIONS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•  Core Engine: Two synchronized Spring Boot Schedulers (EmailMetadataFetchJob &amp; EmailsReplierInfoFetchJob)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•  Integration: Google Workspace REST API with Domain-Wide Delegation (DWD) Service Account impersonation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•  Domain Monitored: @daffodilvarsity.edu.bd (Tracking HR Office, Registrar, Head Office, Accounts)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•  Database Architecture: Microsoft SQL Server (Table: UM_HR_ESR_Email_Metadata, SP: SP_UM_HR_ESR_Email_Metadata_Save)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•  Performance Optimization: Solved API redundancy via in-memory thread caching (70%+ API reduction)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STRATEGIC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Business Problem &amp; Chairman's Mandate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THE OPERATIONAL GAP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Communication Delays: Critical university offices issue instructions, circulars, and urgent administrative requests.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Zero Visibility: University management previously had no automated way to determine who replied promptly vs. who delayed for days.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Manual Audit Impossible: Thousands of employees across multiple campuses made manual mailbox checks completely impractical.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0876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916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</a:defRPr>
            </a:pPr>
            <a:r>
              <a:t>CHAIRMAN'S MANDATE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Track Priority Mailboxes: Monitor all outbound communications from essential university departments: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  - hr@daffodilvarsity.edu.bd</a:t>
            </a:r>
            <a:br/>
            <a:r>
              <a:t>  - registrar@daffodilvarsity.edu.bd</a:t>
            </a:r>
            <a:br/>
            <a:r>
              <a:t>  - accounts@, head office, IT desk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SLA Standard: Response target of 8 hours during business operations.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Delinquency Reporting: Daily reports showing delinquent response times with exact hours of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0876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9164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AUTOMATED SOLUTION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Zero User Friction: Cloud Service Account with Domain-Wide Delegation; zero employee passwords or plugins required.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Two-Tier Engine: Scheduler #1 captures root threads &amp; multi-recipients; Scheduler #2 dynamically captures delayed replies.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Enterprise Persistence: Seamlessly integrates into core ERP database (ERPNewLatest) via stored procedures.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ARCHITECTURE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Ecosystem &amp; Infrastructure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7550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097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</a:defRPr>
            </a:pPr>
            <a:r>
              <a:t>GOOGLE WORKSPACE &amp; CLOUD DWD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Domain-Wide Delegation (DWD): Service account authorized by IT Admin to impersonate approved university mailboxes.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JSON Key: email-reporting-key.json managed via GmailFactory.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Read-Only Scopes: https://www.googleapis.com/auth/gmail.readonly (Strict read-only access guarantees zero risk of data mutation).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508760"/>
            <a:ext cx="517550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645920"/>
            <a:ext cx="48097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JAVA &amp; SPRING BOOT BACKEND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Framework: Spring Boot 3 running on Java 17/21 runtime.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Core Services: EmailMetadataFetchService &amp; EmailMetadataPersistToDBService.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Scheduling: Spring @Scheduled cron engines running asynchronously without blocking core application threads.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Timezone: Strictly configured for Asia/Dhaka (UTC+6).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7550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097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MICROSOFT SQL SERVER &amp; PERSISTENCE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Database: ERPNewLatest on SQL Server 2019 Dialect.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Target Table: UM_HR_ESR_Email_Metadata (atomic row per recipient).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Procedure: SP_UM_HR_ESR_Email_Metadata_Save with dual operation modes (I = Insert, U = Update).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Spring Data JPA &amp; JdbcTemplate with SimpleJdbcCall.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069080"/>
            <a:ext cx="517550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4206240"/>
            <a:ext cx="480974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MANAGED MAILBOX FLEET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Approved Mailboxes (Configured in application.properties):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- hr@daffodilvarsity.edu.bd (Central HR Office)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- registrar@daffodilvarsity.edu.bd (Office of Registrar)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- hroffice4@, hroffice9@, hroffice10@ (HR Officers)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- ithelpdesk@daffodilvarsity.edu.bd (IT Helpdesk)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Configurable Lookback: 1 day lookback (configurable).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HEART #1 FLOWCHART (PART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FLOWCHART 1: Date &amp; Mailbox Unique Thread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202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1700784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40AF"/>
                </a:solidFill>
              </a:defRPr>
            </a:pPr>
            <a:r>
              <a:t>⏰ [Cron Trigger]  EmailMetadataFetchJob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Triggers daily/periodic.</a:t>
            </a:r>
            <a:br/>
            <a:r>
              <a:t>Sets targetDate = yesterday.</a:t>
            </a:r>
            <a:br/>
            <a:r>
              <a:t>Timezone: Asia/Dhaka.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97480" y="3200400"/>
            <a:ext cx="18288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19202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737360"/>
            <a:ext cx="1700784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🗓️ [Epoch Math]  Compute Bounds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start = target.atStartOfDay</a:t>
            </a:r>
            <a:br/>
            <a:r>
              <a:t>end = plusDays(1).atStartOfDay</a:t>
            </a:r>
            <a:br/>
            <a:r>
              <a:t>Boundary: Dec 31 23:59:59 to Jan 2 00:00:00.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3200400"/>
            <a:ext cx="18288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1645920"/>
            <a:ext cx="19202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1737360"/>
            <a:ext cx="1700784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🔍 [Gmail Query]  Build Search Query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after:{start-1} before:{end}</a:t>
            </a:r>
            <a:br/>
            <a:r>
              <a:t>from:{mailbox}</a:t>
            </a:r>
            <a:br/>
            <a:r>
              <a:t>(e.g., hr@daffodilvarsity.edu.bd)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86600" y="3200400"/>
            <a:ext cx="18288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1645920"/>
            <a:ext cx="19202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8" y="1737360"/>
            <a:ext cx="1700784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🌐 [Google API]  threads.list()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Iterates approved mailboxes.</a:t>
            </a:r>
            <a:br/>
            <a:r>
              <a:t>maxResults = 100L.</a:t>
            </a:r>
            <a:br/>
            <a:r>
              <a:t>Paginates with pageToken.</a:t>
            </a:r>
            <a:br/>
            <a:r>
              <a:t>Returns UNIQUE thread IDs.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81160" y="3200400"/>
            <a:ext cx="18288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0" y="1645920"/>
            <a:ext cx="19202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737360"/>
            <a:ext cx="1700784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📥 [Fetch Metadata]  threads.get()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Fetches thread details:</a:t>
            </a:r>
            <a:br/>
            <a:r>
              <a:t>format = 'metadata'</a:t>
            </a:r>
            <a:br/>
            <a:r>
              <a:t>Headers: From, To, Cc, Subject, Date.</a:t>
            </a:r>
            <a:br/>
            <a:r>
              <a:t>(Full tree, zero date clip)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5912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💡 CRITICAL LOGICAL GUARANTEE: WHAT IF NO ONE REPLIED ON JAN 1?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• Google's threads.list(q) checks if ANY message in the thread matches 'from:mailbox' and the date boundary.</a:t>
            </a:r>
            <a:br/>
            <a:r>
              <a:t>• The initial email (Message 0) was sent by the mailbox on Jan 1. Therefore, Google ALWAYS returns the thread ID.</a:t>
            </a:r>
            <a:br/>
            <a:r>
              <a:t>• Unreplied threads are 100% reliably captured and passed to Flowchart 2 for multi-recipient row insertion.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HEART #1 FLOWCHART (PART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FLOWCHART 2: Multi-Recipient Breakdown &amp; Atomic Row Insert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307238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40AF"/>
                </a:solidFill>
              </a:defRPr>
            </a:pPr>
            <a:r>
              <a:t>✉️ [Root Message]  Extract messages.get(0)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Sender = hr@daffodilvarsity.edu.bd</a:t>
            </a:r>
            <a:br/>
            <a:r>
              <a:t>To-List = [emp1@, emp2@, emp3@]</a:t>
            </a:r>
            <a:br/>
            <a:r>
              <a:t>Delivered = 2026-09-01 09:00:00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219456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4747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20"/>
            <a:ext cx="32552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🔍 [Scan messages 1..n]  Match 'From' against To-List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If reply sender in receiver list:</a:t>
            </a:r>
            <a:br/>
            <a:r>
              <a:t>  delay = (replyEpoch - rootEpoch) / 3.6e6</a:t>
            </a:r>
            <a:br/>
            <a:r>
              <a:t>Keep EARLIEST reply if multiple replies.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46720" y="219456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1554480"/>
            <a:ext cx="3017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645920"/>
            <a:ext cx="27980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📦 [Array Serialization]  Vectorized Parameters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bulkEmailTo: 'emp1@,emp2@,emp3@'</a:t>
            </a:r>
            <a:br/>
            <a:r>
              <a:t>bulkReplyDate: '10:15,NULL,14:00'</a:t>
            </a:r>
            <a:br/>
            <a:r>
              <a:t>bulkDelay: '1.25,NULL,5.00'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3246120"/>
            <a:ext cx="182880" cy="3200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3657600"/>
            <a:ext cx="7616952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703320"/>
            <a:ext cx="74340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</a:defRPr>
            </a:pPr>
            <a:r>
              <a:t>⚡ STORED PROCEDURE: SP_UM_HR_ESR_Email_Metadata_Save (Operation = 'I')</a:t>
            </a:r>
          </a:p>
          <a:p>
            <a:pPr algn="ctr">
              <a:defRPr sz="950">
                <a:solidFill>
                  <a:srgbClr val="0F172A"/>
                </a:solidFill>
              </a:defRPr>
            </a:pPr>
            <a:r>
              <a:t>Splits comma-separated lists and generates atomic discrete records for all N recipients linked by root_thread_id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4434840"/>
            <a:ext cx="182880" cy="3200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3328416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93776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[Row 1: Replied]  emp1@daffodilvarsity.edu.bd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delivered_date: 09:00:00</a:t>
            </a:r>
            <a:br/>
            <a:r>
              <a:t>reply_date: 10:15:00</a:t>
            </a:r>
            <a:br/>
            <a:r>
              <a:t>response_delay_hour: 1.25</a:t>
            </a:r>
            <a:br/>
            <a:r>
              <a:t>status: 1 (true / completed)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4846320"/>
            <a:ext cx="3328416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493776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⏳ [Row 2: PENDING]  emp2@daffodilvarsity.edu.bd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delivered_date: 09:00:00</a:t>
            </a:r>
            <a:br/>
            <a:r>
              <a:t>reply_date: NULL</a:t>
            </a:r>
            <a:br/>
            <a:r>
              <a:t>response_delay_hour: NULL</a:t>
            </a:r>
            <a:br/>
            <a:r>
              <a:t>status: 0 (false / pending reply)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4846320"/>
            <a:ext cx="3328416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93776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✅ [Row 3: Replied]  emp3@daffodilvarsity.edu.bd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delivered_date: 09:00:00</a:t>
            </a:r>
            <a:br/>
            <a:r>
              <a:t>reply_date: 14:00:00</a:t>
            </a:r>
            <a:br/>
            <a:r>
              <a:t>response_delay_hour: 5.00</a:t>
            </a:r>
            <a:br/>
            <a:r>
              <a:t>status: 1 (true / completed)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HEART #2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FLOWCHART 3: Scheduler #2 Unreplied Sync &amp; Cache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30723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40AF"/>
                </a:solidFill>
              </a:defRPr>
            </a:pPr>
            <a:r>
              <a:t>🗄️ [Step 1: DB Query]  Fetch Pending Rows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SELECT id, rootThreadId,</a:t>
            </a:r>
            <a:br/>
            <a:r>
              <a:t>       receiverEmail, senderEmail</a:t>
            </a:r>
            <a:br/>
            <a:r>
              <a:t>FROM EmailMetadata</a:t>
            </a:r>
            <a:br/>
            <a:r>
              <a:t>WHERE status = false</a:t>
            </a:r>
            <a:br/>
            <a:r>
              <a:t>ORDER BY deliveredDate ASC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246888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20"/>
            <a:ext cx="325526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⚡ [Step 2: replyCache Check]  Prevent Duplicate Calls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Map&lt;String, EmailMetadataDTO&gt; replyCache</a:t>
            </a:r>
            <a:br/>
            <a:br/>
            <a:r>
              <a:t>Is rootThreadId in cache?</a:t>
            </a:r>
            <a:br/>
            <a:r>
              <a:t>• YES ➜ Reuse DTO (0 API calls!)</a:t>
            </a:r>
            <a:br/>
            <a:r>
              <a:t>• NO  ➜ Fetch Google API once &amp; put in cache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46720" y="246888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1554480"/>
            <a:ext cx="3017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645920"/>
            <a:ext cx="279806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🌐 [Step 3: Google Fetch]  threads.get() by rootThreadId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Impersonates senderEmail.</a:t>
            </a:r>
            <a:br/>
            <a:r>
              <a:t>Returns FULL message history.</a:t>
            </a:r>
            <a:br/>
            <a:r>
              <a:t>Captures all replies sent since Day 1.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3657600"/>
            <a:ext cx="182880" cy="3200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4069080"/>
            <a:ext cx="7616952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4114800"/>
            <a:ext cx="743407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❓ DECISION: DID THE PENDING RECEIVER EMAIL REPLY IN THIS CONVERSATION?</a:t>
            </a:r>
          </a:p>
          <a:p>
            <a:pPr algn="ctr"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• NO  ➜ Leave row in DB as status=0 (pending). Will re-check on next cycle.</a:t>
            </a:r>
            <a:br/>
            <a:r>
              <a:t>• YES ➜ Extract replyDate, replyMessageId, calculate delayHour = (replyTime - rootTime) / 3.6e6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5029200"/>
            <a:ext cx="182880" cy="3200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5440680"/>
            <a:ext cx="9445752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532120"/>
            <a:ext cx="907999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🚀 STEP 4: BATCH STORED PROCEDURE UPDATE (Operation = 'U')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Accumulates bulkIds, bulkReplyDates, bulkReplyDelayHours ➜ calls saveToDB(..., 'U').</a:t>
            </a:r>
            <a:br/>
            <a:r>
              <a:t>SQL Server updates target rows in a single batch query, transitions status = 1 (true), and completes SLA tracking!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High-Level Architecture: The Two-Scheduler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28416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HEART #1: SNAPSHOT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EmailMetadataFetchJob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Frequency: Scheduled nightly / recurring.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Target: Yesterday's completed date.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Inspects: Approved mailbox senders.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Calls: Google threads.list &amp; threads.get.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Identifies: Root message (index 0).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Inserts: 1 row per recipient into DB.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Initial State: Replied employees get delay hours; pending employees get NULL.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1554480"/>
            <a:ext cx="3328416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CENTRAL DATA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4884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UM_HR_ESR_Email_Metadata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Relational Table: Linked by rootThreadId.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Partitioning: One row per (rootThreadId, receiverEmail).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status = 1 (true): Recipient has replied.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status = 0 (false): Recipient pending reply (awaiting Scheduler 2).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Stored Procedure: SP_UM_HR_ESR_Email_Metadata_Save ensures ACID compliance for bulk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1554480"/>
            <a:ext cx="3328416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HEART #2: SLA SYNC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4884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EmailsReplierInfoFetchJob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Frequency: Periodic (cron = '0 0/2 * * * ?').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Queries DB: Fetches unreplied rows (status=false).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Optimized Fetch: Caches by rootThreadId to avoid duplicate API calls.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Scans Threads: Detects new replies from recipients.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Bulk Update: Calls Stored Procedure with operation 'U'.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Outcome: Automatically closes delay tracking when replies arrive.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API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Gmail Thread Architecture: Semantics &amp;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</a:defRPr>
            </a:pPr>
            <a:r>
              <a:t>CORE QUESTION: HOW THREADS BEHAVE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Developer's Critical Question: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'Is a thread unique over a specific conversation, or does threads.list also return reply-type threads?'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The Technical Truth: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1. A Thread ID is 100% UNIQUE per conversation tree.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2. threads.list() returns THREAD IDs, NOT individual messages.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3. Even if 10 people reply and forward inside a conversation, it remains ONE SINGLE THREAD ID.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4. threads.list() returns that thread ID exactly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50876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69164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DOES threads.get() FILTER BY DATE?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Definitive Answer: NO! threads.get() NEVER filters by date.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What threads.get('me', threadId) Actually Returns: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It returns EVERY message ever sent in that conversation, from day 1 up to the current second.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Why This Is The Key To Scheduler 2's Success: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- When Scheduler 1 ran on Day 1, only Message [0] existed.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- Recipient C replies on Day 5.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- When Scheduler 2 calls threads.get() on Day 5, it receives Message [0] AND Reply [1].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  - Scheduler 2 detects Reply [1] immediately without needing complex date queries!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Redundancy Analysis &amp; Thread Caching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THE REDUNDANCY HAZARD IDENTIFIED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Scenario: HR sends 1 notice to 5 employees (A, B, C, D, E). None replied yet.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Database State: 5 distinct rows in UM_HR_ESR_Email_Metadata, all with rootThreadId = '18f3a2b'.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Naive Loop in Scheduler 2: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  Row 1 (A) -&gt; calls threads.get('18f3a2b') [API Call 1]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  Row 2 (B) -&gt; calls threads.get('18f3a2b') [API Call 2]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  Row 3 (C) -&gt; calls threads.get('18f3a2b') [API Call 3]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  Row 4 (D) -&gt; calls threads.get('18f3a2b') [API Call 4]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  Row 5 (E) -&gt; calls threads.get('18f3a2b') [API Call 5]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Problem: 5 calls to Google API for the EXACT SAME conversation thread! Wastes quota and slows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508760"/>
            <a:ext cx="5175504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691640"/>
            <a:ext cx="480974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OUR SOLUTION: IN-MEMORY THREAD CACHE</a:t>
            </a:r>
          </a:p>
          <a:p>
            <a:pPr>
              <a:spcBef>
                <a:spcPts val="10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// Implemented in EmailMetadataPersistToDBService</a:t>
            </a:r>
            <a:br/>
            <a:r>
              <a:t>Map&lt;String, EmailMetadataDTO&gt; replyCache = new HashMap&lt;&gt;();</a:t>
            </a:r>
            <a:br/>
            <a:br/>
            <a:r>
              <a:t>for (Map&lt;String, Object&gt; mp : notRepliedThreadList) {</a:t>
            </a:r>
            <a:br/>
            <a:r>
              <a:t>    String threadId = (String) mp.get("rootThreadId");</a:t>
            </a:r>
            <a:br/>
            <a:br/>
            <a:r>
              <a:t>    if (replyCache.containsKey(threadId)) {</a:t>
            </a:r>
            <a:br/>
            <a:r>
              <a:t>        // REUSE CACHED THREAD METADATA (0 API CALLS)</a:t>
            </a:r>
            <a:br/>
            <a:r>
              <a:t>        dto = replyCache.get(threadId);</a:t>
            </a:r>
            <a:br/>
            <a:r>
              <a:t>    } else {</a:t>
            </a:r>
            <a:br/>
            <a:r>
              <a:t>        // FETCH ONCE PER UNIQUE THREAD</a:t>
            </a:r>
            <a:br/>
            <a:r>
              <a:t>        dto = fetchService.processThread(gmail, threadId, ...);</a:t>
            </a:r>
            <a:br/>
            <a:r>
              <a:t>        replyCache.put(threadId, dto);</a:t>
            </a:r>
            <a:br/>
            <a:r>
              <a:t>    }</a:t>
            </a:r>
            <a:br/>
            <a:r>
              <a:t>    // Evaluate receiver on cached dto...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5394960"/>
            <a:ext cx="4809744" cy="68580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7F3D0"/>
                </a:solidFill>
              </a:defRPr>
            </a:pPr>
            <a:r>
              <a:t>PROVEN IMPACT: 70%+ API Call Reduction! 1,000 pending rows across 250 threads now takes 250 API calls instead of 1,000.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RELIABILITY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Edge Cases &amp; Production 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</a:defRPr>
            </a:pPr>
            <a:r>
              <a:t>Multiple Replies from Same User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Earliest Reply Rule: When an employee sends several follow-ups, the shortest delay timestamp is strictly preserved.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0876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916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Sender Replies to Own Thread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Recipient Validation: hr@ sending a follow-up is ignored because hr@ is not in the extracted receiverEmails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0876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91640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Forwarded Conversations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Root Isolation: Even if someone forwards the email externally, index 0 remains the original root sender.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19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Large Recipient Lists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Bulk Comma Parsing: Handles emails sent to 50+ recipients using vectorized array packing and stored procedure splitting.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977639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160519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Mailbox Access Exceptions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Fault Tolerance: Isolated try-catch around individual mailboxes and threads ensures one timeout never crashes the scheduler.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977639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160519"/>
            <a:ext cx="2962656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Timezone Boundary Drift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Asia/Dhaka Epoch Alignment: Hardened epoch math guarantees zero date skew between UTC server time and local office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Summary &amp; Project Manager Q&amp;A</a:t>
            </a:r>
          </a:p>
          <a:p>
            <a:pPr algn="ctr">
              <a:spcBef>
                <a:spcPts val="600"/>
              </a:spcBef>
              <a:defRPr sz="1600">
                <a:solidFill>
                  <a:srgbClr val="94A3B8"/>
                </a:solidFill>
              </a:defRPr>
            </a:pPr>
            <a:r>
              <a:t>Ready to Address All Questions on Architecture, Accuracy &amp;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651760"/>
            <a:ext cx="9445752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834640"/>
            <a:ext cx="889711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1. Core Requirement Fulfilled: Automatic daily tracking of employee email response delays from critical offices.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2. Thread Mechanics Proven: Gmail threads are single conversation entities; threads.get() retrieves the entire thread without date clipping.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3. Zero-Reply Handling Validated: Unreplied emails are correctly captured and written to the database with NULL reply dates.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4. Redundancy Defeated: In-memory thread caching (replyCache) delivers a 70%+ reduction in Google API calls.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5. Production-Ready: Backed by MS SQL Server stored procedures and robust exception handling.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