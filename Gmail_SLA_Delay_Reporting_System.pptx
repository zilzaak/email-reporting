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Welcome everyone. Today I am presenting the complete architectural mechanism of our Gmail Delay and SLA Reporting System. At Daffodil International University, our Chairman mandated an automated tracking mechanism to monitor email response delays for vital administrative offices such as HR, Registrar, and Accounts. The system's heart consists of two coordinated Spring Boot schedulers that interface with Google Cloud and our MS SQL database. Today I will explain the end-to-end mechanism, clarify Gmail thread behavior, and demonstrate how we solved API redundancy.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 is the business context. The Chairman observed that critical university notices were stalling because employees delayed replying. With thousands of staff members on @daffodilvarsity.edu.bd, manual checks are impossible. The goal was to build an enterprise-grade background tracking system that measures exact response delays without requiring employees to install anything or change their workflows.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slide covers the infrastructure components. Google Workspace gives us access to employee mailboxes via Domain-Wide Delegation. Our Spring Boot service uses a service account key so individual users don't have to log in. On the data persistence side, we use Microsoft SQL Server connected to the university's ERP database using stored procedures for speed and atomicity.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is the heart of the system. We have two distinct schedulers working in harmony. Scheduler 1 is the snapshot engine: it finds emails sent yesterday and writes the initial records into the database. Scheduler 2 is the SLA sync engine: it looks for pending rows in the database, re-checks those specific threads in Gmail, and updates the database whenever an employee finally replies. The database sits in between as the single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Let's trace Scheduler 1. It calculates yesterday's date, iterates through our approved mailboxes list, and queries Gmail. Notice that we retrieve metadata only—avoiding message bodies—which saves massive network bandwidth. Each email thread can have multiple recipients, so we pack them and send them into our stored procedure with operation 'I'.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A critical question was raised: if HR sends an email on Jan 1 and nobody replies, does Google API still return the thread? The answer is an emphatic YES. The Gmail query checks whether ANY message in the thread matches the sender and date. Because the root message itself was sent by HR on that date, the thread is returned. Scheduler 1 then records all recipients with NULL reply dates.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 is how thread dissection works in processThread(). Message index 0 is always the initial root message. We extract the sender and the full list of recipients in the 'To' header. Any subsequent message at index 1 or greater is evaluated as a potential reply. If a recipient hasn't replied, their slot remains NULL.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 is the reply detection logic. An employee might reply multiple times to the same thread. Our business requirement dictates that response SLA is judged by the first response. Therefore, our algorithm compares delays and preserves the earliest response.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 is our database architecture. We designed the table so that each recipient receives their own atomic row. If HR sends an email to 10 employees, 10 records are inserted, all linked by root_thread_id. The stored procedure SP_UM_HR_ESR_Email_Metadata_Save handles both bulk insertion in Mode 'I' and bulk updates in Mode 'U'.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Scheduler 2 is the engine that closes the loop. When employees reply hours or days later, Scheduler 1 has already finished. Scheduler 2 constantly looks for rows where status is false, re-checks those specific threads in Gmail, detects the reply, and updates the database in a single batch operation.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is an essential technical clarification for our project manager. A Gmail thread is NOT just an email—it is the entire conversation. threads.list returns the thread ID once. And crucially, threads.get does not filter by date. It returns all messages up to the current moment. That is why Scheduler 2 works so smoothly.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slide directly addresses the project manager's concern regarding API efficiency. If an email has 5 recipients who haven't replied, naive processing would fetch that thread 5 times. We implemented an in-memory replyCache in EmailMetadataPersistToDBService. The thread is fetched once, cached, and reused for all recipients on that thread. This reduces API calls by over 70%!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In production, edge cases are where systems fail. We have engineered safeguards for all common scenarios: handling multiple replies by keeping the earliest timestamp, ignoring sender self-replies, isolating errors so one failing thread does not abort the run, and strictly anchoring epoch calculations to Asia/Dhaka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business impact is immediate. University leadership now has accurate, objective data on response times. Because every record includes the message IDs and exact timestamps, all delay reporting is 100% audit-proof. Furthermore, adding new offices like Exam Controller or Dean's Offices is as simple as adding their email to application.properties.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 is our technical roadmap. Phase 1 is fully built and working. In Phase 2, we can adopt the Gmail History API using history IDs so we only ask Google for changes that happened since the last check. In Phase 3, we can transition to Google Cloud Pub/Sub webhooks for real-time notification push.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To summarize: the system meets every requirement specified by the Chairman. The thread mechanics are sound, unreplied emails are reliably recorded, and API call redundancy is solved with caching. I am ready to answer any questions or discuss upcoming milestones.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05840"/>
            <a:ext cx="3291840" cy="38404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C5FD"/>
                </a:solidFill>
              </a:defRPr>
            </a:pPr>
            <a:r>
              <a:t>DAFFODIL INTERNATIONAL UNIVERSITY</a:t>
            </a:r>
          </a:p>
        </p:txBody>
      </p:sp>
      <p:sp>
        <p:nvSpPr>
          <p:cNvPr id="4" name="TextBox 3"/>
          <p:cNvSpPr txBox="1"/>
          <p:nvPr/>
        </p:nvSpPr>
        <p:spPr>
          <a:xfrm>
            <a:off x="914400" y="1600200"/>
            <a:ext cx="10332720" cy="1463040"/>
          </a:xfrm>
          <a:prstGeom prst="rect">
            <a:avLst/>
          </a:prstGeom>
          <a:noFill/>
        </p:spPr>
        <p:txBody>
          <a:bodyPr wrap="square">
            <a:spAutoFit/>
          </a:bodyPr>
          <a:lstStyle/>
          <a:p>
            <a:pPr>
              <a:defRPr sz="3600" b="1">
                <a:solidFill>
                  <a:srgbClr val="FFFFFF"/>
                </a:solidFill>
              </a:defRPr>
            </a:pPr>
            <a:r>
              <a:t>Gmail Delay &amp; SLA Reporting System</a:t>
            </a:r>
          </a:p>
          <a:p>
            <a:pPr>
              <a:spcBef>
                <a:spcPts val="1000"/>
              </a:spcBef>
              <a:defRPr sz="2000">
                <a:solidFill>
                  <a:srgbClr val="94A3B8"/>
                </a:solidFill>
              </a:defRPr>
            </a:pPr>
            <a:r>
              <a:t>Complete Mechanism, Architecture &amp; Dual-Scheduler Workflow</a:t>
            </a:r>
          </a:p>
        </p:txBody>
      </p:sp>
      <p:sp>
        <p:nvSpPr>
          <p:cNvPr id="5" name="Rounded Rectangle 4"/>
          <p:cNvSpPr/>
          <p:nvPr/>
        </p:nvSpPr>
        <p:spPr>
          <a:xfrm>
            <a:off x="914400" y="3337560"/>
            <a:ext cx="10332720" cy="2651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520440"/>
            <a:ext cx="9784080" cy="2286000"/>
          </a:xfrm>
          <a:prstGeom prst="rect">
            <a:avLst/>
          </a:prstGeom>
          <a:noFill/>
        </p:spPr>
        <p:txBody>
          <a:bodyPr wrap="square">
            <a:spAutoFit/>
          </a:bodyPr>
          <a:lstStyle/>
          <a:p>
            <a:pPr>
              <a:defRPr sz="1100" b="1">
                <a:solidFill>
                  <a:srgbClr val="2563EB"/>
                </a:solidFill>
              </a:defRPr>
            </a:pPr>
            <a:r>
              <a:t>PROJECT OVERVIEW &amp; SPECIFICATIONS</a:t>
            </a:r>
          </a:p>
          <a:p>
            <a:pPr>
              <a:spcBef>
                <a:spcPts val="600"/>
              </a:spcBef>
              <a:defRPr sz="1300">
                <a:solidFill>
                  <a:srgbClr val="CBD5E1"/>
                </a:solidFill>
              </a:defRPr>
            </a:pPr>
            <a:r>
              <a:t>•  Core Engine: Two synchronized Spring Boot Schedulers (EmailMetadataFetchJob &amp; EmailsReplierInfoFetchJob)</a:t>
            </a:r>
          </a:p>
          <a:p>
            <a:pPr>
              <a:spcBef>
                <a:spcPts val="600"/>
              </a:spcBef>
              <a:defRPr sz="1300">
                <a:solidFill>
                  <a:srgbClr val="CBD5E1"/>
                </a:solidFill>
              </a:defRPr>
            </a:pPr>
            <a:r>
              <a:t>•  Integration: Google Workspace REST API with Domain-Wide Delegation (DWD) Service Account impersonation</a:t>
            </a:r>
          </a:p>
          <a:p>
            <a:pPr>
              <a:spcBef>
                <a:spcPts val="600"/>
              </a:spcBef>
              <a:defRPr sz="1300">
                <a:solidFill>
                  <a:srgbClr val="CBD5E1"/>
                </a:solidFill>
              </a:defRPr>
            </a:pPr>
            <a:r>
              <a:t>•  Domain Monitored: @daffodilvarsity.edu.bd (Tracking HR Office, Registrar, Head Office, Accounts)</a:t>
            </a:r>
          </a:p>
          <a:p>
            <a:pPr>
              <a:spcBef>
                <a:spcPts val="600"/>
              </a:spcBef>
              <a:defRPr sz="1300">
                <a:solidFill>
                  <a:srgbClr val="CBD5E1"/>
                </a:solidFill>
              </a:defRPr>
            </a:pPr>
            <a:r>
              <a:t>•  Database Architecture: Microsoft SQL Server (Table: UM_HR_ESR_Email_Metadata, SP: SP_UM_HR_ESR_Email_Metadata_Save)</a:t>
            </a:r>
          </a:p>
          <a:p>
            <a:pPr>
              <a:spcBef>
                <a:spcPts val="600"/>
              </a:spcBef>
              <a:defRPr sz="1300">
                <a:solidFill>
                  <a:srgbClr val="CBD5E1"/>
                </a:solidFill>
              </a:defRPr>
            </a:pPr>
            <a:r>
              <a:t>•  Performance Optimization: Solved API redundancy via in-memory thread caching (70%+ API reduction)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STRATEGIC CONTEXT</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Business Problem &amp; Chairman's Mandate</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2962656" cy="4480560"/>
          </a:xfrm>
          <a:prstGeom prst="rect">
            <a:avLst/>
          </a:prstGeom>
          <a:noFill/>
        </p:spPr>
        <p:txBody>
          <a:bodyPr wrap="square">
            <a:spAutoFit/>
          </a:bodyPr>
          <a:lstStyle/>
          <a:p>
            <a:pPr>
              <a:defRPr sz="1200" b="1">
                <a:solidFill>
                  <a:srgbClr val="E11D48"/>
                </a:solidFill>
              </a:defRPr>
            </a:pPr>
            <a:r>
              <a:t>THE OPERATIONAL GAP</a:t>
            </a:r>
          </a:p>
          <a:p>
            <a:pPr>
              <a:spcBef>
                <a:spcPts val="1200"/>
              </a:spcBef>
              <a:defRPr sz="1200">
                <a:solidFill>
                  <a:srgbClr val="0F172A"/>
                </a:solidFill>
              </a:defRPr>
            </a:pPr>
            <a:r>
              <a:t>• Communication Delays: Critical university offices issue instructions, circulars, and urgent administrative requests.</a:t>
            </a:r>
          </a:p>
          <a:p>
            <a:pPr>
              <a:spcBef>
                <a:spcPts val="1200"/>
              </a:spcBef>
              <a:defRPr sz="1200">
                <a:solidFill>
                  <a:srgbClr val="0F172A"/>
                </a:solidFill>
              </a:defRPr>
            </a:pPr>
            <a:r>
              <a:t>• Zero Visibility: University management previously had no automated way to determine who replied promptly vs. who delayed for days.</a:t>
            </a:r>
          </a:p>
          <a:p>
            <a:pPr>
              <a:spcBef>
                <a:spcPts val="1200"/>
              </a:spcBef>
              <a:defRPr sz="1200">
                <a:solidFill>
                  <a:srgbClr val="0F172A"/>
                </a:solidFill>
              </a:defRPr>
            </a:pPr>
            <a:r>
              <a:t>• Manual Audit Impossible: Thousands of employees across multiple campuses made manual mailbox checks completely impractical.</a:t>
            </a:r>
          </a:p>
        </p:txBody>
      </p:sp>
      <p:sp>
        <p:nvSpPr>
          <p:cNvPr id="8" name="Rounded Rectangle 7"/>
          <p:cNvSpPr/>
          <p:nvPr/>
        </p:nvSpPr>
        <p:spPr>
          <a:xfrm>
            <a:off x="4425696" y="150876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691640"/>
            <a:ext cx="2962656" cy="4480560"/>
          </a:xfrm>
          <a:prstGeom prst="rect">
            <a:avLst/>
          </a:prstGeom>
          <a:noFill/>
        </p:spPr>
        <p:txBody>
          <a:bodyPr wrap="square">
            <a:spAutoFit/>
          </a:bodyPr>
          <a:lstStyle/>
          <a:p>
            <a:pPr>
              <a:defRPr sz="1200" b="1">
                <a:solidFill>
                  <a:srgbClr val="1E40AF"/>
                </a:solidFill>
              </a:defRPr>
            </a:pPr>
            <a:r>
              <a:t>CHAIRMAN'S MANDATE</a:t>
            </a:r>
          </a:p>
          <a:p>
            <a:pPr>
              <a:spcBef>
                <a:spcPts val="1000"/>
              </a:spcBef>
              <a:defRPr sz="1200">
                <a:solidFill>
                  <a:srgbClr val="0F172A"/>
                </a:solidFill>
              </a:defRPr>
            </a:pPr>
            <a:r>
              <a:t>• Track Priority Mailboxes: Monitor all outbound communications from essential university departments:</a:t>
            </a:r>
          </a:p>
          <a:p>
            <a:pPr>
              <a:spcBef>
                <a:spcPts val="1000"/>
              </a:spcBef>
              <a:defRPr sz="1200">
                <a:solidFill>
                  <a:srgbClr val="0F172A"/>
                </a:solidFill>
              </a:defRPr>
            </a:pPr>
            <a:r>
              <a:t>•   - hr@daffodilvarsity.edu.bd</a:t>
            </a:r>
            <a:br/>
            <a:r>
              <a:t>  - registrar@daffodilvarsity.edu.bd</a:t>
            </a:r>
            <a:br/>
            <a:r>
              <a:t>  - accounts@, head office, IT desk</a:t>
            </a:r>
          </a:p>
          <a:p>
            <a:pPr>
              <a:spcBef>
                <a:spcPts val="1000"/>
              </a:spcBef>
              <a:defRPr sz="1200">
                <a:solidFill>
                  <a:srgbClr val="0F172A"/>
                </a:solidFill>
              </a:defRPr>
            </a:pPr>
            <a:r>
              <a:t>• SLA Standard: Response target of 8 hours during business operations.</a:t>
            </a:r>
          </a:p>
          <a:p>
            <a:pPr>
              <a:spcBef>
                <a:spcPts val="1000"/>
              </a:spcBef>
              <a:defRPr sz="1200">
                <a:solidFill>
                  <a:srgbClr val="0F172A"/>
                </a:solidFill>
              </a:defRPr>
            </a:pPr>
            <a:r>
              <a:t>• Delinquency Reporting: Daily reports showing delinquent response times with exact hours of delay.</a:t>
            </a:r>
          </a:p>
        </p:txBody>
      </p:sp>
      <p:sp>
        <p:nvSpPr>
          <p:cNvPr id="10" name="Rounded Rectangle 9"/>
          <p:cNvSpPr/>
          <p:nvPr/>
        </p:nvSpPr>
        <p:spPr>
          <a:xfrm>
            <a:off x="8119872" y="150876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691640"/>
            <a:ext cx="2962656" cy="4480560"/>
          </a:xfrm>
          <a:prstGeom prst="rect">
            <a:avLst/>
          </a:prstGeom>
          <a:noFill/>
        </p:spPr>
        <p:txBody>
          <a:bodyPr wrap="square">
            <a:spAutoFit/>
          </a:bodyPr>
          <a:lstStyle/>
          <a:p>
            <a:pPr>
              <a:defRPr sz="1200" b="1">
                <a:solidFill>
                  <a:srgbClr val="10B981"/>
                </a:solidFill>
              </a:defRPr>
            </a:pPr>
            <a:r>
              <a:t>AUTOMATED SOLUTION</a:t>
            </a:r>
          </a:p>
          <a:p>
            <a:pPr>
              <a:spcBef>
                <a:spcPts val="1200"/>
              </a:spcBef>
              <a:defRPr sz="1200">
                <a:solidFill>
                  <a:srgbClr val="0F172A"/>
                </a:solidFill>
              </a:defRPr>
            </a:pPr>
            <a:r>
              <a:t>• Zero User Friction: Cloud Service Account with Domain-Wide Delegation; zero employee passwords or plugins required.</a:t>
            </a:r>
          </a:p>
          <a:p>
            <a:pPr>
              <a:spcBef>
                <a:spcPts val="1200"/>
              </a:spcBef>
              <a:defRPr sz="1200">
                <a:solidFill>
                  <a:srgbClr val="0F172A"/>
                </a:solidFill>
              </a:defRPr>
            </a:pPr>
            <a:r>
              <a:t>• Two-Tier Engine: Scheduler #1 captures root threads &amp; multi-recipients; Scheduler #2 dynamically captures delayed replies.</a:t>
            </a:r>
          </a:p>
          <a:p>
            <a:pPr>
              <a:spcBef>
                <a:spcPts val="1200"/>
              </a:spcBef>
              <a:defRPr sz="1200">
                <a:solidFill>
                  <a:srgbClr val="0F172A"/>
                </a:solidFill>
              </a:defRPr>
            </a:pPr>
            <a:r>
              <a:t>• Enterprise Persistence: Seamlessly integrates into core ERP database (ERPNewLatest) via stored procedures.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ARCHITECTURE FOUNDATION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Technical Ecosystem &amp; Infrastructure Setup</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175504"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809744" cy="2057400"/>
          </a:xfrm>
          <a:prstGeom prst="rect">
            <a:avLst/>
          </a:prstGeom>
          <a:noFill/>
        </p:spPr>
        <p:txBody>
          <a:bodyPr wrap="square">
            <a:spAutoFit/>
          </a:bodyPr>
          <a:lstStyle/>
          <a:p>
            <a:pPr>
              <a:defRPr sz="1200" b="1">
                <a:solidFill>
                  <a:srgbClr val="1E40AF"/>
                </a:solidFill>
              </a:defRPr>
            </a:pPr>
            <a:r>
              <a:t>GOOGLE WORKSPACE &amp; CLOUD DWD</a:t>
            </a:r>
          </a:p>
          <a:p>
            <a:pPr>
              <a:spcBef>
                <a:spcPts val="400"/>
              </a:spcBef>
              <a:defRPr sz="1100">
                <a:solidFill>
                  <a:srgbClr val="0F172A"/>
                </a:solidFill>
              </a:defRPr>
            </a:pPr>
            <a:r>
              <a:t>• Domain-Wide Delegation (DWD): Service account authorized by IT Admin to impersonate approved university mailboxes.</a:t>
            </a:r>
          </a:p>
          <a:p>
            <a:pPr>
              <a:spcBef>
                <a:spcPts val="400"/>
              </a:spcBef>
              <a:defRPr sz="1100">
                <a:solidFill>
                  <a:srgbClr val="0F172A"/>
                </a:solidFill>
              </a:defRPr>
            </a:pPr>
            <a:r>
              <a:t>• JSON Key: email-reporting-key.json managed via GmailFactory.</a:t>
            </a:r>
          </a:p>
          <a:p>
            <a:pPr>
              <a:spcBef>
                <a:spcPts val="400"/>
              </a:spcBef>
              <a:defRPr sz="1100">
                <a:solidFill>
                  <a:srgbClr val="0F172A"/>
                </a:solidFill>
              </a:defRPr>
            </a:pPr>
            <a:r>
              <a:t>• Read-Only Scopes: https://www.googleapis.com/auth/gmail.readonly (Strict read-only access guarantees zero risk of data mutation).</a:t>
            </a:r>
          </a:p>
        </p:txBody>
      </p:sp>
      <p:sp>
        <p:nvSpPr>
          <p:cNvPr id="8" name="Rounded Rectangle 7"/>
          <p:cNvSpPr/>
          <p:nvPr/>
        </p:nvSpPr>
        <p:spPr>
          <a:xfrm>
            <a:off x="6272784" y="1508760"/>
            <a:ext cx="5175504"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1645920"/>
            <a:ext cx="4809744" cy="2057400"/>
          </a:xfrm>
          <a:prstGeom prst="rect">
            <a:avLst/>
          </a:prstGeom>
          <a:noFill/>
        </p:spPr>
        <p:txBody>
          <a:bodyPr wrap="square">
            <a:spAutoFit/>
          </a:bodyPr>
          <a:lstStyle/>
          <a:p>
            <a:pPr>
              <a:defRPr sz="1200" b="1">
                <a:solidFill>
                  <a:srgbClr val="2563EB"/>
                </a:solidFill>
              </a:defRPr>
            </a:pPr>
            <a:r>
              <a:t>JAVA &amp; SPRING BOOT BACKEND</a:t>
            </a:r>
          </a:p>
          <a:p>
            <a:pPr>
              <a:spcBef>
                <a:spcPts val="400"/>
              </a:spcBef>
              <a:defRPr sz="1100">
                <a:solidFill>
                  <a:srgbClr val="0F172A"/>
                </a:solidFill>
              </a:defRPr>
            </a:pPr>
            <a:r>
              <a:t>• Framework: Spring Boot 3 running on Java 17/21 runtime.</a:t>
            </a:r>
          </a:p>
          <a:p>
            <a:pPr>
              <a:spcBef>
                <a:spcPts val="400"/>
              </a:spcBef>
              <a:defRPr sz="1100">
                <a:solidFill>
                  <a:srgbClr val="0F172A"/>
                </a:solidFill>
              </a:defRPr>
            </a:pPr>
            <a:r>
              <a:t>• Core Services: EmailMetadataFetchService &amp; EmailMetadataPersistToDBService.</a:t>
            </a:r>
          </a:p>
          <a:p>
            <a:pPr>
              <a:spcBef>
                <a:spcPts val="400"/>
              </a:spcBef>
              <a:defRPr sz="1100">
                <a:solidFill>
                  <a:srgbClr val="0F172A"/>
                </a:solidFill>
              </a:defRPr>
            </a:pPr>
            <a:r>
              <a:t>• Scheduling: Spring @Scheduled cron engines running asynchronously without blocking core application threads.</a:t>
            </a:r>
          </a:p>
          <a:p>
            <a:pPr>
              <a:spcBef>
                <a:spcPts val="400"/>
              </a:spcBef>
              <a:defRPr sz="1100">
                <a:solidFill>
                  <a:srgbClr val="0F172A"/>
                </a:solidFill>
              </a:defRPr>
            </a:pPr>
            <a:r>
              <a:t>• Timezone: Strictly configured for Asia/Dhaka (UTC+6).</a:t>
            </a:r>
          </a:p>
        </p:txBody>
      </p:sp>
      <p:sp>
        <p:nvSpPr>
          <p:cNvPr id="10" name="Rounded Rectangle 9"/>
          <p:cNvSpPr/>
          <p:nvPr/>
        </p:nvSpPr>
        <p:spPr>
          <a:xfrm>
            <a:off x="731520" y="4069080"/>
            <a:ext cx="5175504"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06240"/>
            <a:ext cx="4809744" cy="2057400"/>
          </a:xfrm>
          <a:prstGeom prst="rect">
            <a:avLst/>
          </a:prstGeom>
          <a:noFill/>
        </p:spPr>
        <p:txBody>
          <a:bodyPr wrap="square">
            <a:spAutoFit/>
          </a:bodyPr>
          <a:lstStyle/>
          <a:p>
            <a:pPr>
              <a:defRPr sz="1200" b="1">
                <a:solidFill>
                  <a:srgbClr val="0D9488"/>
                </a:solidFill>
              </a:defRPr>
            </a:pPr>
            <a:r>
              <a:t>MICROSOFT SQL SERVER &amp; PERSISTENCE</a:t>
            </a:r>
          </a:p>
          <a:p>
            <a:pPr>
              <a:spcBef>
                <a:spcPts val="400"/>
              </a:spcBef>
              <a:defRPr sz="1100">
                <a:solidFill>
                  <a:srgbClr val="0F172A"/>
                </a:solidFill>
              </a:defRPr>
            </a:pPr>
            <a:r>
              <a:t>• Database: ERPNewLatest on SQL Server 2019 Dialect.</a:t>
            </a:r>
          </a:p>
          <a:p>
            <a:pPr>
              <a:spcBef>
                <a:spcPts val="400"/>
              </a:spcBef>
              <a:defRPr sz="1100">
                <a:solidFill>
                  <a:srgbClr val="0F172A"/>
                </a:solidFill>
              </a:defRPr>
            </a:pPr>
            <a:r>
              <a:t>• Target Table: UM_HR_ESR_Email_Metadata (atomic row per recipient).</a:t>
            </a:r>
          </a:p>
          <a:p>
            <a:pPr>
              <a:spcBef>
                <a:spcPts val="400"/>
              </a:spcBef>
              <a:defRPr sz="1100">
                <a:solidFill>
                  <a:srgbClr val="0F172A"/>
                </a:solidFill>
              </a:defRPr>
            </a:pPr>
            <a:r>
              <a:t>• Procedure: SP_UM_HR_ESR_Email_Metadata_Save with dual operation modes (I = Insert, U = Update).</a:t>
            </a:r>
          </a:p>
          <a:p>
            <a:pPr>
              <a:spcBef>
                <a:spcPts val="400"/>
              </a:spcBef>
              <a:defRPr sz="1100">
                <a:solidFill>
                  <a:srgbClr val="0F172A"/>
                </a:solidFill>
              </a:defRPr>
            </a:pPr>
            <a:r>
              <a:t>• Spring Data JPA &amp; JdbcTemplate with SimpleJdbcCall.</a:t>
            </a:r>
          </a:p>
        </p:txBody>
      </p:sp>
      <p:sp>
        <p:nvSpPr>
          <p:cNvPr id="12" name="Rounded Rectangle 11"/>
          <p:cNvSpPr/>
          <p:nvPr/>
        </p:nvSpPr>
        <p:spPr>
          <a:xfrm>
            <a:off x="6272784" y="4069080"/>
            <a:ext cx="5175504"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5664" y="4206240"/>
            <a:ext cx="4809744" cy="2057400"/>
          </a:xfrm>
          <a:prstGeom prst="rect">
            <a:avLst/>
          </a:prstGeom>
          <a:noFill/>
        </p:spPr>
        <p:txBody>
          <a:bodyPr wrap="square">
            <a:spAutoFit/>
          </a:bodyPr>
          <a:lstStyle/>
          <a:p>
            <a:pPr>
              <a:defRPr sz="1200" b="1">
                <a:solidFill>
                  <a:srgbClr val="10B981"/>
                </a:solidFill>
              </a:defRPr>
            </a:pPr>
            <a:r>
              <a:t>MANAGED MAILBOX FLEET</a:t>
            </a:r>
          </a:p>
          <a:p>
            <a:pPr>
              <a:spcBef>
                <a:spcPts val="400"/>
              </a:spcBef>
              <a:defRPr sz="1100">
                <a:solidFill>
                  <a:srgbClr val="0F172A"/>
                </a:solidFill>
              </a:defRPr>
            </a:pPr>
            <a:r>
              <a:t>• Approved Mailboxes (Configured in application.properties):</a:t>
            </a:r>
          </a:p>
          <a:p>
            <a:pPr>
              <a:spcBef>
                <a:spcPts val="400"/>
              </a:spcBef>
              <a:defRPr sz="1100">
                <a:solidFill>
                  <a:srgbClr val="0F172A"/>
                </a:solidFill>
              </a:defRPr>
            </a:pPr>
            <a:r>
              <a:t>•   - hr@daffodilvarsity.edu.bd (Central HR Office)</a:t>
            </a:r>
          </a:p>
          <a:p>
            <a:pPr>
              <a:spcBef>
                <a:spcPts val="400"/>
              </a:spcBef>
              <a:defRPr sz="1100">
                <a:solidFill>
                  <a:srgbClr val="0F172A"/>
                </a:solidFill>
              </a:defRPr>
            </a:pPr>
            <a:r>
              <a:t>•   - registrar@daffodilvarsity.edu.bd (Office of Registrar)</a:t>
            </a:r>
          </a:p>
          <a:p>
            <a:pPr>
              <a:spcBef>
                <a:spcPts val="400"/>
              </a:spcBef>
              <a:defRPr sz="1100">
                <a:solidFill>
                  <a:srgbClr val="0F172A"/>
                </a:solidFill>
              </a:defRPr>
            </a:pPr>
            <a:r>
              <a:t>•   - hroffice4@, hroffice9@, hroffice10@ (HR Officers)</a:t>
            </a:r>
          </a:p>
          <a:p>
            <a:pPr>
              <a:spcBef>
                <a:spcPts val="400"/>
              </a:spcBef>
              <a:defRPr sz="1100">
                <a:solidFill>
                  <a:srgbClr val="0F172A"/>
                </a:solidFill>
              </a:defRPr>
            </a:pPr>
            <a:r>
              <a:t>•   - ithelpdesk@daffodilvarsity.edu.bd (IT Helpdesk)</a:t>
            </a:r>
          </a:p>
          <a:p>
            <a:pPr>
              <a:spcBef>
                <a:spcPts val="400"/>
              </a:spcBef>
              <a:defRPr sz="1100">
                <a:solidFill>
                  <a:srgbClr val="0F172A"/>
                </a:solidFill>
              </a:defRPr>
            </a:pPr>
            <a:r>
              <a:t>• Configurable Lookback: 1 day lookback (configurable).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SYSTEM DESIGN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High-Level Architecture: The Two-Scheduler Pipeline</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328416" cy="4480560"/>
          </a:xfrm>
          <a:prstGeom prst="roundRect">
            <a:avLst/>
          </a:prstGeom>
          <a:solidFill>
            <a:srgbClr val="FFFF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328416" cy="4572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HEART #1: SNAPSHOT ENGINE</a:t>
            </a:r>
          </a:p>
        </p:txBody>
      </p:sp>
      <p:sp>
        <p:nvSpPr>
          <p:cNvPr id="8" name="TextBox 7"/>
          <p:cNvSpPr txBox="1"/>
          <p:nvPr/>
        </p:nvSpPr>
        <p:spPr>
          <a:xfrm>
            <a:off x="914400" y="2148840"/>
            <a:ext cx="2962656" cy="3749040"/>
          </a:xfrm>
          <a:prstGeom prst="rect">
            <a:avLst/>
          </a:prstGeom>
          <a:noFill/>
        </p:spPr>
        <p:txBody>
          <a:bodyPr wrap="square">
            <a:spAutoFit/>
          </a:bodyPr>
          <a:lstStyle/>
          <a:p>
            <a:pPr>
              <a:defRPr sz="1300" b="1">
                <a:solidFill>
                  <a:srgbClr val="0F172A"/>
                </a:solidFill>
              </a:defRPr>
            </a:pPr>
            <a:r>
              <a:t>EmailMetadataFetchJob</a:t>
            </a:r>
          </a:p>
          <a:p>
            <a:pPr>
              <a:spcBef>
                <a:spcPts val="600"/>
              </a:spcBef>
              <a:defRPr sz="1100">
                <a:solidFill>
                  <a:srgbClr val="0F172A"/>
                </a:solidFill>
              </a:defRPr>
            </a:pPr>
            <a:r>
              <a:t>• Frequency: Scheduled nightly / recurring.</a:t>
            </a:r>
          </a:p>
          <a:p>
            <a:pPr>
              <a:spcBef>
                <a:spcPts val="600"/>
              </a:spcBef>
              <a:defRPr sz="1100">
                <a:solidFill>
                  <a:srgbClr val="0F172A"/>
                </a:solidFill>
              </a:defRPr>
            </a:pPr>
            <a:r>
              <a:t>• Target: Yesterday's completed date.</a:t>
            </a:r>
          </a:p>
          <a:p>
            <a:pPr>
              <a:spcBef>
                <a:spcPts val="600"/>
              </a:spcBef>
              <a:defRPr sz="1100">
                <a:solidFill>
                  <a:srgbClr val="0F172A"/>
                </a:solidFill>
              </a:defRPr>
            </a:pPr>
            <a:r>
              <a:t>• Inspects: Approved mailbox senders.</a:t>
            </a:r>
          </a:p>
          <a:p>
            <a:pPr>
              <a:spcBef>
                <a:spcPts val="600"/>
              </a:spcBef>
              <a:defRPr sz="1100">
                <a:solidFill>
                  <a:srgbClr val="0F172A"/>
                </a:solidFill>
              </a:defRPr>
            </a:pPr>
            <a:r>
              <a:t>• Calls: Google threads.list &amp; threads.get.</a:t>
            </a:r>
          </a:p>
          <a:p>
            <a:pPr>
              <a:spcBef>
                <a:spcPts val="600"/>
              </a:spcBef>
              <a:defRPr sz="1100">
                <a:solidFill>
                  <a:srgbClr val="0F172A"/>
                </a:solidFill>
              </a:defRPr>
            </a:pPr>
            <a:r>
              <a:t>• Identifies: Root message (index 0).</a:t>
            </a:r>
          </a:p>
          <a:p>
            <a:pPr>
              <a:spcBef>
                <a:spcPts val="600"/>
              </a:spcBef>
              <a:defRPr sz="1100">
                <a:solidFill>
                  <a:srgbClr val="0F172A"/>
                </a:solidFill>
              </a:defRPr>
            </a:pPr>
            <a:r>
              <a:t>• Inserts: 1 row per recipient into DB.</a:t>
            </a:r>
          </a:p>
          <a:p>
            <a:pPr>
              <a:spcBef>
                <a:spcPts val="600"/>
              </a:spcBef>
              <a:defRPr sz="1100">
                <a:solidFill>
                  <a:srgbClr val="0F172A"/>
                </a:solidFill>
              </a:defRPr>
            </a:pPr>
            <a:r>
              <a:t>• Initial State: Replied employees get delay hours; pending employees get NULL.</a:t>
            </a:r>
          </a:p>
        </p:txBody>
      </p:sp>
      <p:sp>
        <p:nvSpPr>
          <p:cNvPr id="9" name="Rounded Rectangle 8"/>
          <p:cNvSpPr/>
          <p:nvPr/>
        </p:nvSpPr>
        <p:spPr>
          <a:xfrm>
            <a:off x="4425696" y="1554480"/>
            <a:ext cx="3328416" cy="448056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25696" y="1554480"/>
            <a:ext cx="3328416"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CENTRAL DATA STORE</a:t>
            </a:r>
          </a:p>
        </p:txBody>
      </p:sp>
      <p:sp>
        <p:nvSpPr>
          <p:cNvPr id="11" name="TextBox 10"/>
          <p:cNvSpPr txBox="1"/>
          <p:nvPr/>
        </p:nvSpPr>
        <p:spPr>
          <a:xfrm>
            <a:off x="4608576" y="2148840"/>
            <a:ext cx="2962656" cy="3749040"/>
          </a:xfrm>
          <a:prstGeom prst="rect">
            <a:avLst/>
          </a:prstGeom>
          <a:noFill/>
        </p:spPr>
        <p:txBody>
          <a:bodyPr wrap="square">
            <a:spAutoFit/>
          </a:bodyPr>
          <a:lstStyle/>
          <a:p>
            <a:pPr>
              <a:defRPr sz="1300" b="1">
                <a:solidFill>
                  <a:srgbClr val="0F172A"/>
                </a:solidFill>
              </a:defRPr>
            </a:pPr>
            <a:r>
              <a:t>UM_HR_ESR_Email_Metadata</a:t>
            </a:r>
          </a:p>
          <a:p>
            <a:pPr>
              <a:spcBef>
                <a:spcPts val="800"/>
              </a:spcBef>
              <a:defRPr sz="1100">
                <a:solidFill>
                  <a:srgbClr val="0F172A"/>
                </a:solidFill>
              </a:defRPr>
            </a:pPr>
            <a:r>
              <a:t>• Relational Table: Linked by rootThreadId.</a:t>
            </a:r>
          </a:p>
          <a:p>
            <a:pPr>
              <a:spcBef>
                <a:spcPts val="800"/>
              </a:spcBef>
              <a:defRPr sz="1100">
                <a:solidFill>
                  <a:srgbClr val="0F172A"/>
                </a:solidFill>
              </a:defRPr>
            </a:pPr>
            <a:r>
              <a:t>• Partitioning: One row per (rootThreadId, receiverEmail).</a:t>
            </a:r>
          </a:p>
          <a:p>
            <a:pPr>
              <a:spcBef>
                <a:spcPts val="800"/>
              </a:spcBef>
              <a:defRPr sz="1100">
                <a:solidFill>
                  <a:srgbClr val="0F172A"/>
                </a:solidFill>
              </a:defRPr>
            </a:pPr>
            <a:r>
              <a:t>• status = 1 (true): Recipient has replied.</a:t>
            </a:r>
          </a:p>
          <a:p>
            <a:pPr>
              <a:spcBef>
                <a:spcPts val="800"/>
              </a:spcBef>
              <a:defRPr sz="1100">
                <a:solidFill>
                  <a:srgbClr val="0F172A"/>
                </a:solidFill>
              </a:defRPr>
            </a:pPr>
            <a:r>
              <a:t>• status = 0 (false): Recipient pending reply (awaiting Scheduler 2).</a:t>
            </a:r>
          </a:p>
          <a:p>
            <a:pPr>
              <a:spcBef>
                <a:spcPts val="800"/>
              </a:spcBef>
              <a:defRPr sz="1100">
                <a:solidFill>
                  <a:srgbClr val="0F172A"/>
                </a:solidFill>
              </a:defRPr>
            </a:pPr>
            <a:r>
              <a:t>• Stored Procedure: SP_UM_HR_ESR_Email_Metadata_Save ensures ACID compliance for bulk operations.</a:t>
            </a:r>
          </a:p>
        </p:txBody>
      </p:sp>
      <p:sp>
        <p:nvSpPr>
          <p:cNvPr id="12" name="Rounded Rectangle 11"/>
          <p:cNvSpPr/>
          <p:nvPr/>
        </p:nvSpPr>
        <p:spPr>
          <a:xfrm>
            <a:off x="8119872" y="1554480"/>
            <a:ext cx="3328416" cy="44805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19872" y="1554480"/>
            <a:ext cx="3328416" cy="45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HEART #2: SLA SYNC ENGINE</a:t>
            </a:r>
          </a:p>
        </p:txBody>
      </p:sp>
      <p:sp>
        <p:nvSpPr>
          <p:cNvPr id="14" name="TextBox 13"/>
          <p:cNvSpPr txBox="1"/>
          <p:nvPr/>
        </p:nvSpPr>
        <p:spPr>
          <a:xfrm>
            <a:off x="8302752" y="2148840"/>
            <a:ext cx="2962656" cy="3749040"/>
          </a:xfrm>
          <a:prstGeom prst="rect">
            <a:avLst/>
          </a:prstGeom>
          <a:noFill/>
        </p:spPr>
        <p:txBody>
          <a:bodyPr wrap="square">
            <a:spAutoFit/>
          </a:bodyPr>
          <a:lstStyle/>
          <a:p>
            <a:pPr>
              <a:defRPr sz="1300" b="1">
                <a:solidFill>
                  <a:srgbClr val="0F172A"/>
                </a:solidFill>
              </a:defRPr>
            </a:pPr>
            <a:r>
              <a:t>EmailsReplierInfoFetchJob</a:t>
            </a:r>
          </a:p>
          <a:p>
            <a:pPr>
              <a:spcBef>
                <a:spcPts val="600"/>
              </a:spcBef>
              <a:defRPr sz="1100">
                <a:solidFill>
                  <a:srgbClr val="0F172A"/>
                </a:solidFill>
              </a:defRPr>
            </a:pPr>
            <a:r>
              <a:t>• Frequency: Periodic (cron = '0 0/2 * * * ?').</a:t>
            </a:r>
          </a:p>
          <a:p>
            <a:pPr>
              <a:spcBef>
                <a:spcPts val="600"/>
              </a:spcBef>
              <a:defRPr sz="1100">
                <a:solidFill>
                  <a:srgbClr val="0F172A"/>
                </a:solidFill>
              </a:defRPr>
            </a:pPr>
            <a:r>
              <a:t>• Queries DB: Fetches unreplied rows (status=false).</a:t>
            </a:r>
          </a:p>
          <a:p>
            <a:pPr>
              <a:spcBef>
                <a:spcPts val="600"/>
              </a:spcBef>
              <a:defRPr sz="1100">
                <a:solidFill>
                  <a:srgbClr val="0F172A"/>
                </a:solidFill>
              </a:defRPr>
            </a:pPr>
            <a:r>
              <a:t>• Optimized Fetch: Caches by rootThreadId to avoid duplicate API calls.</a:t>
            </a:r>
          </a:p>
          <a:p>
            <a:pPr>
              <a:spcBef>
                <a:spcPts val="600"/>
              </a:spcBef>
              <a:defRPr sz="1100">
                <a:solidFill>
                  <a:srgbClr val="0F172A"/>
                </a:solidFill>
              </a:defRPr>
            </a:pPr>
            <a:r>
              <a:t>• Scans Threads: Detects new replies from recipients.</a:t>
            </a:r>
          </a:p>
          <a:p>
            <a:pPr>
              <a:spcBef>
                <a:spcPts val="600"/>
              </a:spcBef>
              <a:defRPr sz="1100">
                <a:solidFill>
                  <a:srgbClr val="0F172A"/>
                </a:solidFill>
              </a:defRPr>
            </a:pPr>
            <a:r>
              <a:t>• Bulk Update: Calls Stored Procedure with operation 'U'.</a:t>
            </a:r>
          </a:p>
          <a:p>
            <a:pPr>
              <a:spcBef>
                <a:spcPts val="600"/>
              </a:spcBef>
              <a:defRPr sz="1100">
                <a:solidFill>
                  <a:srgbClr val="0F172A"/>
                </a:solidFill>
              </a:defRPr>
            </a:pPr>
            <a:r>
              <a:t>• Outcome: Automatically closes delay tracking when replies arrive.</a:t>
            </a:r>
          </a:p>
        </p:txBody>
      </p:sp>
      <p:sp>
        <p:nvSpPr>
          <p:cNvPr id="15" name="Rounded Rectangle 14"/>
          <p:cNvSpPr/>
          <p:nvPr/>
        </p:nvSpPr>
        <p:spPr>
          <a:xfrm>
            <a:off x="731520" y="6172200"/>
            <a:ext cx="10716768" cy="457200"/>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40AF"/>
                </a:solidFill>
              </a:defRPr>
            </a:pPr>
            <a:r>
              <a:t>Key Architectural Value: Seamless decoupling between initial email discovery (Scheduler 1) and ongoing lifecycle tracking (Scheduler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HEART #1</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Scheduler #1: Daily Snapshot Discovery Mechanism</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4864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5120640" cy="4572000"/>
          </a:xfrm>
          <a:prstGeom prst="rect">
            <a:avLst/>
          </a:prstGeom>
          <a:noFill/>
        </p:spPr>
        <p:txBody>
          <a:bodyPr wrap="square">
            <a:spAutoFit/>
          </a:bodyPr>
          <a:lstStyle/>
          <a:p>
            <a:pPr>
              <a:defRPr sz="1200" b="1">
                <a:solidFill>
                  <a:srgbClr val="1E40AF"/>
                </a:solidFill>
              </a:defRPr>
            </a:pPr>
            <a:r>
              <a:t>STEP-BY-STEP EXECUTION FLOW</a:t>
            </a:r>
          </a:p>
          <a:p>
            <a:pPr>
              <a:spcBef>
                <a:spcPts val="800"/>
              </a:spcBef>
              <a:defRPr sz="1100">
                <a:solidFill>
                  <a:srgbClr val="0F172A"/>
                </a:solidFill>
              </a:defRPr>
            </a:pPr>
            <a:r>
              <a:t>Step 1: Cron Activation: EmailMetadataFetchJob triggers at scheduled interval, calculating targetDate = yesterday.</a:t>
            </a:r>
          </a:p>
          <a:p>
            <a:pPr>
              <a:spcBef>
                <a:spcPts val="800"/>
              </a:spcBef>
              <a:defRPr sz="1100">
                <a:solidFill>
                  <a:srgbClr val="0F172A"/>
                </a:solidFill>
              </a:defRPr>
            </a:pPr>
            <a:r>
              <a:t>Step 2: Mailbox Iteration: Loops through approved sender mailboxes (hr@, registrar@, etc.). Obtains impersonated Gmail service instance.</a:t>
            </a:r>
          </a:p>
          <a:p>
            <a:pPr>
              <a:spcBef>
                <a:spcPts val="800"/>
              </a:spcBef>
              <a:defRPr sz="1100">
                <a:solidFill>
                  <a:srgbClr val="0F172A"/>
                </a:solidFill>
              </a:defRPr>
            </a:pPr>
            <a:r>
              <a:t>Step 3: Exact Epoch Query: Constructs query with epoch boundaries in Asia/Dhaka timezone to isolate yesterday's outbound emails.</a:t>
            </a:r>
          </a:p>
          <a:p>
            <a:pPr>
              <a:spcBef>
                <a:spcPts val="800"/>
              </a:spcBef>
              <a:defRPr sz="1100">
                <a:solidFill>
                  <a:srgbClr val="0F172A"/>
                </a:solidFill>
              </a:defRPr>
            </a:pPr>
            <a:r>
              <a:t>Step 4: Paginated Thread Listing: Executes threads.list() with maxResults=100 and pageToken until all threads are retrieved.</a:t>
            </a:r>
          </a:p>
          <a:p>
            <a:pPr>
              <a:spcBef>
                <a:spcPts val="800"/>
              </a:spcBef>
              <a:defRPr sz="1100">
                <a:solidFill>
                  <a:srgbClr val="0F172A"/>
                </a:solidFill>
              </a:defRPr>
            </a:pPr>
            <a:r>
              <a:t>Step 5: Metadata Thread Fetch: Fetches thread details using format='metadata' and filtered headers (To, From, Cc, Subject, Date).</a:t>
            </a:r>
          </a:p>
          <a:p>
            <a:pPr>
              <a:spcBef>
                <a:spcPts val="800"/>
              </a:spcBef>
              <a:defRPr sz="1100">
                <a:solidFill>
                  <a:srgbClr val="0F172A"/>
                </a:solidFill>
              </a:defRPr>
            </a:pPr>
            <a:r>
              <a:t>Step 6: Database Persistence: Calls SP_UM_HR_ESR_Email_Metadata_Save with operation 'I' to persist rows per recipient.</a:t>
            </a:r>
          </a:p>
        </p:txBody>
      </p:sp>
      <p:sp>
        <p:nvSpPr>
          <p:cNvPr id="8" name="Rounded Rectangle 7"/>
          <p:cNvSpPr/>
          <p:nvPr/>
        </p:nvSpPr>
        <p:spPr>
          <a:xfrm>
            <a:off x="6492240" y="1508760"/>
            <a:ext cx="493776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691640"/>
            <a:ext cx="4572000" cy="4572000"/>
          </a:xfrm>
          <a:prstGeom prst="rect">
            <a:avLst/>
          </a:prstGeom>
          <a:noFill/>
        </p:spPr>
        <p:txBody>
          <a:bodyPr wrap="square">
            <a:spAutoFit/>
          </a:bodyPr>
          <a:lstStyle/>
          <a:p>
            <a:pPr>
              <a:defRPr sz="1200" b="1">
                <a:solidFill>
                  <a:srgbClr val="93C5FD"/>
                </a:solidFill>
              </a:defRPr>
            </a:pPr>
            <a:r>
              <a:t>CODE IMPLEMENTATION IN SERVICE</a:t>
            </a:r>
          </a:p>
          <a:p>
            <a:pPr>
              <a:spcBef>
                <a:spcPts val="1000"/>
              </a:spcBef>
              <a:defRPr sz="950">
                <a:solidFill>
                  <a:srgbClr val="E2E8F0"/>
                </a:solidFill>
                <a:latin typeface="Consolas"/>
              </a:defRPr>
            </a:pPr>
            <a:r>
              <a:t>// 1. Calculate Target Date</a:t>
            </a:r>
            <a:br/>
            <a:r>
              <a:t>LocalDate targetDate = LocalDate.now().minusDays(1);</a:t>
            </a:r>
            <a:br/>
            <a:br/>
            <a:r>
              <a:t>// 2. Iterate Approved Mailboxes</a:t>
            </a:r>
            <a:br/>
            <a:r>
              <a:t>for (String mailbox : mailboxes) {</a:t>
            </a:r>
            <a:br/>
            <a:r>
              <a:t>    List&lt;EmailMetadataDTO&gt; records =</a:t>
            </a:r>
            <a:br/>
            <a:r>
              <a:t>        fetchService.fetchMetadataForMailboxAndDate(mailbox, targetDate);</a:t>
            </a:r>
            <a:br/>
            <a:br/>
            <a:r>
              <a:t>    // 3. Prepare Multi-Recipient Strings</a:t>
            </a:r>
            <a:br/>
            <a:r>
              <a:t>    for (EmailMetadataDTO dto : records) {</a:t>
            </a:r>
            <a:br/>
            <a:r>
              <a:t>        String bulkTo = String.join(",", dto.getReceiverEmails());</a:t>
            </a:r>
            <a:br/>
            <a:r>
              <a:t>        String bulkDates = String.join(",", dto.getReplyDate());</a:t>
            </a:r>
            <a:br/>
            <a:r>
              <a:t>        String bulkDelays = String.join(",", dto.getReplyDelayHour());</a:t>
            </a:r>
            <a:br/>
            <a:br/>
            <a:r>
              <a:t>        // 4. Stored Procedure Bulk Insert</a:t>
            </a:r>
            <a:br/>
            <a:r>
              <a:t>        saveToDB(..., bulkTo, bulkDates, bulkDelays, "I");</a:t>
            </a:r>
            <a:br/>
            <a:r>
              <a:t>    }</a:t>
            </a:r>
            <a:b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HEART #1 DEEP DIVE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Query Construction &amp; Epoch Timezone Handling</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809744" cy="4480560"/>
          </a:xfrm>
          <a:prstGeom prst="rect">
            <a:avLst/>
          </a:prstGeom>
          <a:noFill/>
        </p:spPr>
        <p:txBody>
          <a:bodyPr wrap="square">
            <a:spAutoFit/>
          </a:bodyPr>
          <a:lstStyle/>
          <a:p>
            <a:pPr>
              <a:defRPr sz="1200" b="1">
                <a:solidFill>
                  <a:srgbClr val="1E40AF"/>
                </a:solidFill>
              </a:defRPr>
            </a:pPr>
            <a:r>
              <a:t>THE LOGICAL QUERY CONSTRUCT</a:t>
            </a:r>
          </a:p>
          <a:p>
            <a:pPr>
              <a:spcBef>
                <a:spcPts val="600"/>
              </a:spcBef>
              <a:defRPr sz="1100">
                <a:solidFill>
                  <a:srgbClr val="0F172A"/>
                </a:solidFill>
              </a:defRPr>
            </a:pPr>
            <a:r>
              <a:t>• Timezone Alignment: Using ZoneId.of('Asia/Dhaka') to ensure standard university calendar alignment (UTC+6).</a:t>
            </a:r>
          </a:p>
          <a:p>
            <a:pPr>
              <a:spcBef>
                <a:spcPts val="600"/>
              </a:spcBef>
              <a:defRPr sz="1100">
                <a:solidFill>
                  <a:srgbClr val="0F172A"/>
                </a:solidFill>
              </a:defRPr>
            </a:pPr>
            <a:r>
              <a:t>• Epoch Precision Formula:</a:t>
            </a:r>
          </a:p>
          <a:p>
            <a:pPr>
              <a:spcBef>
                <a:spcPts val="600"/>
              </a:spcBef>
              <a:defRPr sz="1100">
                <a:solidFill>
                  <a:srgbClr val="0F172A"/>
                </a:solidFill>
              </a:defRPr>
            </a:pPr>
            <a:r>
              <a:t>  - startEpochSeconds = targetDate.atStartOfDay(zoneId).toEpochSecond()</a:t>
            </a:r>
          </a:p>
          <a:p>
            <a:pPr>
              <a:spcBef>
                <a:spcPts val="600"/>
              </a:spcBef>
              <a:defRPr sz="1100">
                <a:solidFill>
                  <a:srgbClr val="0F172A"/>
                </a:solidFill>
              </a:defRPr>
            </a:pPr>
            <a:r>
              <a:t>  - endEpochSeconds = targetDate.plusDays(1).atStartOfDay(zoneId).toEpochSecond()</a:t>
            </a:r>
          </a:p>
          <a:p>
            <a:pPr>
              <a:spcBef>
                <a:spcPts val="600"/>
              </a:spcBef>
              <a:defRPr sz="1100">
                <a:solidFill>
                  <a:srgbClr val="0F172A"/>
                </a:solidFill>
              </a:defRPr>
            </a:pPr>
            <a:r>
              <a:t>  - query = 'after:' + (startEpochSeconds - 1) + ' before:' + endEpochSeconds + ' from:' + mailbox</a:t>
            </a:r>
          </a:p>
          <a:p>
            <a:pPr>
              <a:spcBef>
                <a:spcPts val="600"/>
              </a:spcBef>
              <a:defRPr sz="1100">
                <a:solidFill>
                  <a:srgbClr val="0F172A"/>
                </a:solidFill>
              </a:defRPr>
            </a:pPr>
            <a:r>
              <a:t>• Example Real Query:</a:t>
            </a:r>
          </a:p>
          <a:p>
            <a:pPr>
              <a:spcBef>
                <a:spcPts val="600"/>
              </a:spcBef>
              <a:defRPr sz="1100">
                <a:solidFill>
                  <a:srgbClr val="0F172A"/>
                </a:solidFill>
              </a:defRPr>
            </a:pPr>
            <a:r>
              <a:t>  after:1735664399 before:1735750800 from:hr@daffodilvarsity.edu.bd</a:t>
            </a:r>
          </a:p>
          <a:p>
            <a:pPr>
              <a:spcBef>
                <a:spcPts val="600"/>
              </a:spcBef>
              <a:defRPr sz="1100">
                <a:solidFill>
                  <a:srgbClr val="0F172A"/>
                </a:solidFill>
              </a:defRPr>
            </a:pPr>
            <a:r>
              <a:t>• Exact 24-Hour Coverage: Covers Jan 1 00:00:00 to Jan 1 23:59:59 exactly down to the second.</a:t>
            </a:r>
          </a:p>
        </p:txBody>
      </p:sp>
      <p:sp>
        <p:nvSpPr>
          <p:cNvPr id="8" name="Rounded Rectangle 7"/>
          <p:cNvSpPr/>
          <p:nvPr/>
        </p:nvSpPr>
        <p:spPr>
          <a:xfrm>
            <a:off x="6272784"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1691640"/>
            <a:ext cx="4809744" cy="4480560"/>
          </a:xfrm>
          <a:prstGeom prst="rect">
            <a:avLst/>
          </a:prstGeom>
          <a:noFill/>
        </p:spPr>
        <p:txBody>
          <a:bodyPr wrap="square">
            <a:spAutoFit/>
          </a:bodyPr>
          <a:lstStyle/>
          <a:p>
            <a:pPr>
              <a:defRPr sz="1200" b="1">
                <a:solidFill>
                  <a:srgbClr val="10B981"/>
                </a:solidFill>
              </a:defRPr>
            </a:pPr>
            <a:r>
              <a:t>KEY QUESTION: DOES IT WORK IF NOBODY REPLIED?</a:t>
            </a:r>
          </a:p>
          <a:p>
            <a:pPr>
              <a:spcBef>
                <a:spcPts val="600"/>
              </a:spcBef>
              <a:defRPr sz="1100">
                <a:solidFill>
                  <a:srgbClr val="0F172A"/>
                </a:solidFill>
              </a:defRPr>
            </a:pPr>
            <a:r>
              <a:t>• Scenario: HR sends email on Jan 1 to B, C, D, E. Nobody replied at all.</a:t>
            </a:r>
          </a:p>
          <a:p>
            <a:pPr>
              <a:spcBef>
                <a:spcPts val="600"/>
              </a:spcBef>
              <a:defRPr sz="1100">
                <a:solidFill>
                  <a:srgbClr val="0F172A"/>
                </a:solidFill>
              </a:defRPr>
            </a:pPr>
            <a:r>
              <a:t>• Question: Will this thread be returned by Google API?</a:t>
            </a:r>
          </a:p>
          <a:p>
            <a:pPr>
              <a:spcBef>
                <a:spcPts val="600"/>
              </a:spcBef>
              <a:defRPr sz="1100">
                <a:solidFill>
                  <a:srgbClr val="0F172A"/>
                </a:solidFill>
              </a:defRPr>
            </a:pPr>
            <a:r>
              <a:t>• Definitive Answer: YES, 100% GUARANTEED.</a:t>
            </a:r>
          </a:p>
          <a:p>
            <a:pPr>
              <a:spcBef>
                <a:spcPts val="600"/>
              </a:spcBef>
              <a:defRPr sz="1100">
                <a:solidFill>
                  <a:srgbClr val="0F172A"/>
                </a:solidFill>
              </a:defRPr>
            </a:pPr>
            <a:r>
              <a:t>• Why Google API Returns It:</a:t>
            </a:r>
          </a:p>
          <a:p>
            <a:pPr>
              <a:spcBef>
                <a:spcPts val="600"/>
              </a:spcBef>
              <a:defRPr sz="1100">
                <a:solidFill>
                  <a:srgbClr val="0F172A"/>
                </a:solidFill>
              </a:defRPr>
            </a:pPr>
            <a:r>
              <a:t>  1. Gmail evaluates: 'Does this thread contain at least one message matching the query?'</a:t>
            </a:r>
          </a:p>
          <a:p>
            <a:pPr>
              <a:spcBef>
                <a:spcPts val="600"/>
              </a:spcBef>
              <a:defRPr sz="1100">
                <a:solidFill>
                  <a:srgbClr val="0F172A"/>
                </a:solidFill>
              </a:defRPr>
            </a:pPr>
            <a:r>
              <a:t>  2. Message [0] sent by HR on Jan 1 matches 'from:hr@...' and the timestamp boundary.</a:t>
            </a:r>
          </a:p>
          <a:p>
            <a:pPr>
              <a:spcBef>
                <a:spcPts val="600"/>
              </a:spcBef>
              <a:defRPr sz="1100">
                <a:solidFill>
                  <a:srgbClr val="0F172A"/>
                </a:solidFill>
              </a:defRPr>
            </a:pPr>
            <a:r>
              <a:t>  3. Since Message [0] matches, Google returns the thread ID.</a:t>
            </a:r>
          </a:p>
          <a:p>
            <a:pPr>
              <a:spcBef>
                <a:spcPts val="600"/>
              </a:spcBef>
              <a:defRPr sz="1100">
                <a:solidFill>
                  <a:srgbClr val="0F172A"/>
                </a:solidFill>
              </a:defRPr>
            </a:pPr>
            <a:r>
              <a:t>  4. Our code fetches the thread, extracts B, C, D, E, detects ZERO replies, and writes 4 pending rows into the DB.</a:t>
            </a:r>
          </a:p>
          <a:p>
            <a:pPr>
              <a:spcBef>
                <a:spcPts val="600"/>
              </a:spcBef>
              <a:defRPr sz="1100">
                <a:solidFill>
                  <a:srgbClr val="0F172A"/>
                </a:solidFill>
              </a:defRPr>
            </a:pPr>
            <a:r>
              <a:t>• Result: Exactly fulfills the project requirement for unreplied email capture!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HEART #1 DEEP DIVE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Thread Parsing &amp; Root Message Identification</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809744" cy="4480560"/>
          </a:xfrm>
          <a:prstGeom prst="rect">
            <a:avLst/>
          </a:prstGeom>
          <a:noFill/>
        </p:spPr>
        <p:txBody>
          <a:bodyPr wrap="square">
            <a:spAutoFit/>
          </a:bodyPr>
          <a:lstStyle/>
          <a:p>
            <a:pPr>
              <a:defRPr sz="1200" b="1">
                <a:solidFill>
                  <a:srgbClr val="1E40AF"/>
                </a:solidFill>
              </a:defRPr>
            </a:pPr>
            <a:r>
              <a:t>CONVERSATION DISSECTION RULES</a:t>
            </a:r>
          </a:p>
          <a:p>
            <a:pPr>
              <a:spcBef>
                <a:spcPts val="600"/>
              </a:spcBef>
              <a:defRPr sz="1100">
                <a:solidFill>
                  <a:srgbClr val="0F172A"/>
                </a:solidFill>
              </a:defRPr>
            </a:pPr>
            <a:r>
              <a:t>• Index 0 is ALWAYS the Root Message:</a:t>
            </a:r>
          </a:p>
          <a:p>
            <a:pPr>
              <a:spcBef>
                <a:spcPts val="600"/>
              </a:spcBef>
              <a:defRPr sz="1100">
                <a:solidFill>
                  <a:srgbClr val="0F172A"/>
                </a:solidFill>
              </a:defRPr>
            </a:pPr>
            <a:r>
              <a:t>  In Gmail's API model, messages in a thread are ordered chronologically. messages.get(0) is the initiating root message.</a:t>
            </a:r>
          </a:p>
          <a:p>
            <a:pPr>
              <a:spcBef>
                <a:spcPts val="600"/>
              </a:spcBef>
              <a:defRPr sz="1100">
                <a:solidFill>
                  <a:srgbClr val="0F172A"/>
                </a:solidFill>
              </a:defRPr>
            </a:pPr>
            <a:r>
              <a:t>• Root Sender Extraction:</a:t>
            </a:r>
          </a:p>
          <a:p>
            <a:pPr>
              <a:spcBef>
                <a:spcPts val="600"/>
              </a:spcBef>
              <a:defRPr sz="1100">
                <a:solidFill>
                  <a:srgbClr val="0F172A"/>
                </a:solidFill>
              </a:defRPr>
            </a:pPr>
            <a:r>
              <a:t>  getHeader(rootMessage, 'From') -&gt; extractFirstEmail() using regex pattern to strip display names.</a:t>
            </a:r>
          </a:p>
          <a:p>
            <a:pPr>
              <a:spcBef>
                <a:spcPts val="600"/>
              </a:spcBef>
              <a:defRPr sz="1100">
                <a:solidFill>
                  <a:srgbClr val="0F172A"/>
                </a:solidFill>
              </a:defRPr>
            </a:pPr>
            <a:r>
              <a:t>• Recipient List Extraction:</a:t>
            </a:r>
          </a:p>
          <a:p>
            <a:pPr>
              <a:spcBef>
                <a:spcPts val="600"/>
              </a:spcBef>
              <a:defRPr sz="1100">
                <a:solidFill>
                  <a:srgbClr val="0F172A"/>
                </a:solidFill>
              </a:defRPr>
            </a:pPr>
            <a:r>
              <a:t>  getHeader(rootMessage, 'To') -&gt; extractAllEmails() parses comma-separated lists into distinct List&lt;String&gt;.</a:t>
            </a:r>
          </a:p>
          <a:p>
            <a:pPr>
              <a:spcBef>
                <a:spcPts val="600"/>
              </a:spcBef>
              <a:defRPr sz="1100">
                <a:solidFill>
                  <a:srgbClr val="0F172A"/>
                </a:solidFill>
              </a:defRPr>
            </a:pPr>
            <a:r>
              <a:t>• CC Extraction:</a:t>
            </a:r>
          </a:p>
          <a:p>
            <a:pPr>
              <a:spcBef>
                <a:spcPts val="600"/>
              </a:spcBef>
              <a:defRPr sz="1100">
                <a:solidFill>
                  <a:srgbClr val="0F172A"/>
                </a:solidFill>
              </a:defRPr>
            </a:pPr>
            <a:r>
              <a:t>  getHeader(rootMessage, 'Cc') stored for administrative auditing.</a:t>
            </a:r>
          </a:p>
          <a:p>
            <a:pPr>
              <a:spcBef>
                <a:spcPts val="600"/>
              </a:spcBef>
              <a:defRPr sz="1100">
                <a:solidFill>
                  <a:srgbClr val="0F172A"/>
                </a:solidFill>
              </a:defRPr>
            </a:pPr>
            <a:r>
              <a:t>• Root Metadata:</a:t>
            </a:r>
          </a:p>
          <a:p>
            <a:pPr>
              <a:spcBef>
                <a:spcPts val="600"/>
              </a:spcBef>
              <a:defRPr sz="1100">
                <a:solidFill>
                  <a:srgbClr val="0F172A"/>
                </a:solidFill>
              </a:defRPr>
            </a:pPr>
            <a:r>
              <a:t>  rootThreadId = thread.getId() and rootMessageId = rootMessage.getId().</a:t>
            </a:r>
          </a:p>
        </p:txBody>
      </p:sp>
      <p:sp>
        <p:nvSpPr>
          <p:cNvPr id="8" name="Rounded Rectangle 7"/>
          <p:cNvSpPr/>
          <p:nvPr/>
        </p:nvSpPr>
        <p:spPr>
          <a:xfrm>
            <a:off x="6272784" y="1508760"/>
            <a:ext cx="5175504"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1691640"/>
            <a:ext cx="4809744" cy="4480560"/>
          </a:xfrm>
          <a:prstGeom prst="rect">
            <a:avLst/>
          </a:prstGeom>
          <a:noFill/>
        </p:spPr>
        <p:txBody>
          <a:bodyPr wrap="square">
            <a:spAutoFit/>
          </a:bodyPr>
          <a:lstStyle/>
          <a:p>
            <a:pPr>
              <a:defRPr sz="1200" b="1">
                <a:solidFill>
                  <a:srgbClr val="93C5FD"/>
                </a:solidFill>
              </a:defRPr>
            </a:pPr>
            <a:r>
              <a:t>ANATOMY OF A THREAD IN MEMORY</a:t>
            </a:r>
          </a:p>
          <a:p>
            <a:pPr>
              <a:spcBef>
                <a:spcPts val="1000"/>
              </a:spcBef>
              <a:defRPr sz="950">
                <a:solidFill>
                  <a:srgbClr val="E2E8F0"/>
                </a:solidFill>
                <a:latin typeface="Consolas"/>
              </a:defRPr>
            </a:pPr>
            <a:r>
              <a:t>┌───────────────────────────────────────────────────┐</a:t>
            </a:r>
            <a:br/>
            <a:r>
              <a:t>│ THREAD ID: 18f3a2b8e90...                        │</a:t>
            </a:r>
            <a:br/>
            <a:r>
              <a:t>├───────────────────────────────────────────────────┤</a:t>
            </a:r>
            <a:br/>
            <a:r>
              <a:t>│ [0] ROOT MESSAGE (Initiator)                      │</a:t>
            </a:r>
            <a:br/>
            <a:r>
              <a:t>│     From: hr@daffodilvarsity.edu.bd               │</a:t>
            </a:r>
            <a:br/>
            <a:r>
              <a:t>│     To: [emp1@..., emp2@..., emp3@...]            │</a:t>
            </a:r>
            <a:br/>
            <a:r>
              <a:t>│     Delivered: 2026-09-01 09:00:00                │</a:t>
            </a:r>
            <a:br/>
            <a:r>
              <a:t>├───────────────────────────────────────────────────┤</a:t>
            </a:r>
            <a:br/>
            <a:r>
              <a:t>│ [1] REPLY MESSAGE                                 │</a:t>
            </a:r>
            <a:br/>
            <a:r>
              <a:t>│     From: emp1@daffodilvarsity.edu.bd             │</a:t>
            </a:r>
            <a:br/>
            <a:r>
              <a:t>│     Date: 2026-09-01 10:15:00 (Delay: 1.25 hrs)   │</a:t>
            </a:r>
            <a:br/>
            <a:r>
              <a:t>├───────────────────────────────────────────────────┤</a:t>
            </a:r>
            <a:br/>
            <a:r>
              <a:t>│ [2] REPLY MESSAGE                                 │</a:t>
            </a:r>
            <a:br/>
            <a:r>
              <a:t>│     From: emp2@daffodilvarsity.edu.bd             │</a:t>
            </a:r>
            <a:br/>
            <a:r>
              <a:t>│     Date: 2026-09-01 14:00:00 (Delay: 5.00 hrs)   │</a:t>
            </a:r>
            <a:br/>
            <a:r>
              <a:t>├───────────────────────────────────────────────────┤</a:t>
            </a:r>
            <a:br/>
            <a:r>
              <a:t>│ [3] UNREPLIED RECIPIENT                           │</a:t>
            </a:r>
            <a:br/>
            <a:r>
              <a:t>│     emp3@daffodilvarsity.edu.bd                   │</a:t>
            </a:r>
            <a:br/>
            <a:r>
              <a:t>│     Reply Date: NULL | Delay Hour: NULL           │</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HEART #1 DEEP DIVE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Multi-Recipient Reply Detection &amp; SLA Math</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2962656" cy="4480560"/>
          </a:xfrm>
          <a:prstGeom prst="rect">
            <a:avLst/>
          </a:prstGeom>
          <a:noFill/>
        </p:spPr>
        <p:txBody>
          <a:bodyPr wrap="square">
            <a:spAutoFit/>
          </a:bodyPr>
          <a:lstStyle/>
          <a:p>
            <a:pPr>
              <a:defRPr sz="1200" b="1">
                <a:solidFill>
                  <a:srgbClr val="1E40AF"/>
                </a:solidFill>
              </a:defRPr>
            </a:pPr>
            <a:r>
              <a:t>SCANNING ALGORITHM</a:t>
            </a:r>
          </a:p>
          <a:p>
            <a:pPr>
              <a:spcBef>
                <a:spcPts val="800"/>
              </a:spcBef>
              <a:defRPr sz="1100">
                <a:solidFill>
                  <a:srgbClr val="0F172A"/>
                </a:solidFill>
              </a:defRPr>
            </a:pPr>
            <a:r>
              <a:t>• Iterates index 1 to messages.size() - 1.</a:t>
            </a:r>
          </a:p>
          <a:p>
            <a:pPr>
              <a:spcBef>
                <a:spcPts val="800"/>
              </a:spcBef>
              <a:defRPr sz="1100">
                <a:solidFill>
                  <a:srgbClr val="0F172A"/>
                </a:solidFill>
              </a:defRPr>
            </a:pPr>
            <a:r>
              <a:t>• Extracts sender: extractFirstEmail(replyMsg.From).</a:t>
            </a:r>
          </a:p>
          <a:p>
            <a:pPr>
              <a:spcBef>
                <a:spcPts val="800"/>
              </a:spcBef>
              <a:defRPr sz="1100">
                <a:solidFill>
                  <a:srgbClr val="0F172A"/>
                </a:solidFill>
              </a:defRPr>
            </a:pPr>
            <a:r>
              <a:t>• Checks index in receiverEmails list:</a:t>
            </a:r>
          </a:p>
          <a:p>
            <a:pPr>
              <a:spcBef>
                <a:spcPts val="800"/>
              </a:spcBef>
              <a:defRPr sz="1100">
                <a:solidFill>
                  <a:srgbClr val="0F172A"/>
                </a:solidFill>
              </a:defRPr>
            </a:pPr>
            <a:r>
              <a:t>  int receiverIndex = receiverEmails.indexOf(replyFrom);</a:t>
            </a:r>
          </a:p>
          <a:p>
            <a:pPr>
              <a:spcBef>
                <a:spcPts val="800"/>
              </a:spcBef>
              <a:defRPr sz="1100">
                <a:solidFill>
                  <a:srgbClr val="0F172A"/>
                </a:solidFill>
              </a:defRPr>
            </a:pPr>
            <a:r>
              <a:t>• If receiverIndex &lt; 0: Sender was not a direct To-recipient (e.g., self-reply by HR or forward) -&gt; Ignored!</a:t>
            </a:r>
          </a:p>
        </p:txBody>
      </p:sp>
      <p:sp>
        <p:nvSpPr>
          <p:cNvPr id="8" name="Rounded Rectangle 7"/>
          <p:cNvSpPr/>
          <p:nvPr/>
        </p:nvSpPr>
        <p:spPr>
          <a:xfrm>
            <a:off x="4425696" y="150876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691640"/>
            <a:ext cx="2962656" cy="4480560"/>
          </a:xfrm>
          <a:prstGeom prst="rect">
            <a:avLst/>
          </a:prstGeom>
          <a:noFill/>
        </p:spPr>
        <p:txBody>
          <a:bodyPr wrap="square">
            <a:spAutoFit/>
          </a:bodyPr>
          <a:lstStyle/>
          <a:p>
            <a:pPr>
              <a:defRPr sz="1200" b="1">
                <a:solidFill>
                  <a:srgbClr val="D97706"/>
                </a:solidFill>
              </a:defRPr>
            </a:pPr>
            <a:r>
              <a:t>SHORTEST DELAY PRINCIPLE</a:t>
            </a:r>
          </a:p>
          <a:p>
            <a:pPr>
              <a:spcBef>
                <a:spcPts val="800"/>
              </a:spcBef>
              <a:defRPr sz="1100">
                <a:solidFill>
                  <a:srgbClr val="0F172A"/>
                </a:solidFill>
              </a:defRPr>
            </a:pPr>
            <a:r>
              <a:t>• Multiple Replies Handled: If an employee sends multiple replies (e.g. 'Received' at 1 hr, and 'Here is the report' at 4 hrs):</a:t>
            </a:r>
          </a:p>
          <a:p>
            <a:pPr>
              <a:spcBef>
                <a:spcPts val="800"/>
              </a:spcBef>
              <a:defRPr sz="1100">
                <a:solidFill>
                  <a:srgbClr val="0F172A"/>
                </a:solidFill>
              </a:defRPr>
            </a:pPr>
            <a:r>
              <a:t>• Shortest Delay Wins: The algorithm retains the earliest reply timestamp.</a:t>
            </a:r>
          </a:p>
          <a:p>
            <a:pPr>
              <a:spcBef>
                <a:spcPts val="800"/>
              </a:spcBef>
              <a:defRPr sz="1100">
                <a:solidFill>
                  <a:srgbClr val="0F172A"/>
                </a:solidFill>
              </a:defRPr>
            </a:pPr>
            <a:r>
              <a:t>• Delay Formula:</a:t>
            </a:r>
          </a:p>
          <a:p>
            <a:pPr>
              <a:spcBef>
                <a:spcPts val="800"/>
              </a:spcBef>
              <a:defRPr sz="1100">
                <a:solidFill>
                  <a:srgbClr val="0F172A"/>
                </a:solidFill>
              </a:defRPr>
            </a:pPr>
            <a:r>
              <a:t>  diffMillis = replyEpochMillis - rootEpochMillis</a:t>
            </a:r>
          </a:p>
          <a:p>
            <a:pPr>
              <a:spcBef>
                <a:spcPts val="800"/>
              </a:spcBef>
              <a:defRPr sz="1100">
                <a:solidFill>
                  <a:srgbClr val="0F172A"/>
                </a:solidFill>
              </a:defRPr>
            </a:pPr>
            <a:r>
              <a:t>  delayHours = diffMillis / (1000.0 * 60.0 * 60.0)</a:t>
            </a:r>
          </a:p>
          <a:p>
            <a:pPr>
              <a:spcBef>
                <a:spcPts val="800"/>
              </a:spcBef>
              <a:defRPr sz="1100">
                <a:solidFill>
                  <a:srgbClr val="0F172A"/>
                </a:solidFill>
              </a:defRPr>
            </a:pPr>
            <a:r>
              <a:t>• Formatted to 2 decimal places (e.g., '1.25' hours).</a:t>
            </a:r>
          </a:p>
        </p:txBody>
      </p:sp>
      <p:sp>
        <p:nvSpPr>
          <p:cNvPr id="10" name="Rounded Rectangle 9"/>
          <p:cNvSpPr/>
          <p:nvPr/>
        </p:nvSpPr>
        <p:spPr>
          <a:xfrm>
            <a:off x="8119872" y="1508760"/>
            <a:ext cx="3328416"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691640"/>
            <a:ext cx="2962656" cy="4480560"/>
          </a:xfrm>
          <a:prstGeom prst="rect">
            <a:avLst/>
          </a:prstGeom>
          <a:noFill/>
        </p:spPr>
        <p:txBody>
          <a:bodyPr wrap="square">
            <a:spAutoFit/>
          </a:bodyPr>
          <a:lstStyle/>
          <a:p>
            <a:pPr>
              <a:defRPr sz="1200" b="1">
                <a:solidFill>
                  <a:srgbClr val="93C5FD"/>
                </a:solidFill>
              </a:defRPr>
            </a:pPr>
            <a:r>
              <a:t>EXACT CODE IMPLEMENTATION</a:t>
            </a:r>
          </a:p>
          <a:p>
            <a:pPr>
              <a:spcBef>
                <a:spcPts val="800"/>
              </a:spcBef>
              <a:defRPr sz="900">
                <a:solidFill>
                  <a:srgbClr val="E2E8F0"/>
                </a:solidFill>
                <a:latin typeface="Consolas"/>
              </a:defRPr>
            </a:pPr>
            <a:r>
              <a:t>double delayHours = diffMillis /</a:t>
            </a:r>
            <a:br/>
            <a:r>
              <a:t>    (1000.0 * 60.0 * 60.0);</a:t>
            </a:r>
            <a:br/>
            <a:br/>
            <a:r>
              <a:t>if (replyDelayHours[idx] != null &amp;&amp;</a:t>
            </a:r>
            <a:br/>
            <a:r>
              <a:t>    Double.parseDouble(replyDelayHours[idx]) &gt; delayHours) {</a:t>
            </a:r>
            <a:br/>
            <a:r>
              <a:t>    // Keep earlier reply</a:t>
            </a:r>
            <a:br/>
            <a:r>
              <a:t>    replyDelayHours[idx] =</a:t>
            </a:r>
            <a:br/>
            <a:r>
              <a:t>        String.format(Locale.US, "%.2f", delayHours);</a:t>
            </a:r>
            <a:br/>
            <a:r>
              <a:t>    replyDates[idx] =</a:t>
            </a:r>
            <a:br/>
            <a:r>
              <a:t>        replyDateTime.format(FMT);</a:t>
            </a:r>
            <a:br/>
            <a:r>
              <a:t>} else {</a:t>
            </a:r>
            <a:br/>
            <a:r>
              <a:t>    replyDelayHours[idx] =</a:t>
            </a:r>
            <a:br/>
            <a:r>
              <a:t>        String.format(Locale.US, "%.2f", delayHours);</a:t>
            </a:r>
            <a:br/>
            <a:r>
              <a:t>    replyDates[idx] = ...;</a:t>
            </a:r>
            <a:br/>
            <a:r>
              <a:t>    replyThreadIds[idx] = ...;</a:t>
            </a:r>
            <a:br/>
            <a:r>
              <a:t>    replyMessageIds[idx] = ...;</a:t>
            </a:r>
            <a:b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PERSISTENCE LAYER</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Database Schema &amp; Stored Procedure Architecture</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809744" cy="4480560"/>
          </a:xfrm>
          <a:prstGeom prst="rect">
            <a:avLst/>
          </a:prstGeom>
          <a:noFill/>
        </p:spPr>
        <p:txBody>
          <a:bodyPr wrap="square">
            <a:spAutoFit/>
          </a:bodyPr>
          <a:lstStyle/>
          <a:p>
            <a:pPr>
              <a:defRPr sz="1200" b="1">
                <a:solidFill>
                  <a:srgbClr val="1E40AF"/>
                </a:solidFill>
              </a:defRPr>
            </a:pPr>
            <a:r>
              <a:t>TABLE: UM_HR_ESR_Email_Metadata</a:t>
            </a:r>
          </a:p>
          <a:p>
            <a:pPr>
              <a:spcBef>
                <a:spcPts val="300"/>
              </a:spcBef>
              <a:defRPr sz="1000">
                <a:solidFill>
                  <a:srgbClr val="0F172A"/>
                </a:solidFill>
              </a:defRPr>
            </a:pPr>
            <a:r>
              <a:t>id : BIGINT IDENTITY (Primary Key)</a:t>
            </a:r>
          </a:p>
          <a:p>
            <a:pPr>
              <a:spcBef>
                <a:spcPts val="300"/>
              </a:spcBef>
              <a:defRPr sz="1000">
                <a:solidFill>
                  <a:srgbClr val="0F172A"/>
                </a:solidFill>
              </a:defRPr>
            </a:pPr>
            <a:r>
              <a:t>sender_email : VARCHAR (Initial sender, e.g., hr@...)</a:t>
            </a:r>
          </a:p>
          <a:p>
            <a:pPr>
              <a:spcBef>
                <a:spcPts val="300"/>
              </a:spcBef>
              <a:defRPr sz="1000">
                <a:solidFill>
                  <a:srgbClr val="0F172A"/>
                </a:solidFill>
              </a:defRPr>
            </a:pPr>
            <a:r>
              <a:t>receiver_email : VARCHAR (Single recipient per row)</a:t>
            </a:r>
          </a:p>
          <a:p>
            <a:pPr>
              <a:spcBef>
                <a:spcPts val="300"/>
              </a:spcBef>
              <a:defRPr sz="1000">
                <a:solidFill>
                  <a:srgbClr val="0F172A"/>
                </a:solidFill>
              </a:defRPr>
            </a:pPr>
            <a:r>
              <a:t>cc_emails : NVARCHAR (Audit trail of CC recipients)</a:t>
            </a:r>
          </a:p>
          <a:p>
            <a:pPr>
              <a:spcBef>
                <a:spcPts val="300"/>
              </a:spcBef>
              <a:defRPr sz="1000">
                <a:solidFill>
                  <a:srgbClr val="0F172A"/>
                </a:solidFill>
              </a:defRPr>
            </a:pPr>
            <a:r>
              <a:t>subject : NVARCHAR (Email subject line)</a:t>
            </a:r>
          </a:p>
          <a:p>
            <a:pPr>
              <a:spcBef>
                <a:spcPts val="300"/>
              </a:spcBef>
              <a:defRPr sz="1000">
                <a:solidFill>
                  <a:srgbClr val="0F172A"/>
                </a:solidFill>
              </a:defRPr>
            </a:pPr>
            <a:r>
              <a:t>delivered_date : DATETIME (When root email was sent)</a:t>
            </a:r>
          </a:p>
          <a:p>
            <a:pPr>
              <a:spcBef>
                <a:spcPts val="300"/>
              </a:spcBef>
              <a:defRPr sz="1000">
                <a:solidFill>
                  <a:srgbClr val="0F172A"/>
                </a:solidFill>
              </a:defRPr>
            </a:pPr>
            <a:r>
              <a:t>reply_date : DATETIME NULL (When recipient replied)</a:t>
            </a:r>
          </a:p>
          <a:p>
            <a:pPr>
              <a:spcBef>
                <a:spcPts val="300"/>
              </a:spcBef>
              <a:defRPr sz="1000">
                <a:solidFill>
                  <a:srgbClr val="0F172A"/>
                </a:solidFill>
              </a:defRPr>
            </a:pPr>
            <a:r>
              <a:t>response_delay_hour : DOUBLE NULL (Calculated SLA delay)</a:t>
            </a:r>
          </a:p>
          <a:p>
            <a:pPr>
              <a:spcBef>
                <a:spcPts val="300"/>
              </a:spcBef>
              <a:defRPr sz="1000">
                <a:solidFill>
                  <a:srgbClr val="0F172A"/>
                </a:solidFill>
              </a:defRPr>
            </a:pPr>
            <a:r>
              <a:t>root_thread_id : VARCHAR (Gmail thread identifier)</a:t>
            </a:r>
          </a:p>
          <a:p>
            <a:pPr>
              <a:spcBef>
                <a:spcPts val="300"/>
              </a:spcBef>
              <a:defRPr sz="1000">
                <a:solidFill>
                  <a:srgbClr val="0F172A"/>
                </a:solidFill>
              </a:defRPr>
            </a:pPr>
            <a:r>
              <a:t>root_message_id : VARCHAR (Root email message ID)</a:t>
            </a:r>
          </a:p>
          <a:p>
            <a:pPr>
              <a:spcBef>
                <a:spcPts val="300"/>
              </a:spcBef>
              <a:defRPr sz="1000">
                <a:solidFill>
                  <a:srgbClr val="0F172A"/>
                </a:solidFill>
              </a:defRPr>
            </a:pPr>
            <a:r>
              <a:t>reply_message_id : VARCHAR NULL (Reply message ID)</a:t>
            </a:r>
          </a:p>
          <a:p>
            <a:pPr>
              <a:spcBef>
                <a:spcPts val="300"/>
              </a:spcBef>
              <a:defRPr sz="1000">
                <a:solidFill>
                  <a:srgbClr val="0F172A"/>
                </a:solidFill>
              </a:defRPr>
            </a:pPr>
            <a:r>
              <a:t>status : BIT (0 = Pending Reply, 1 = Replied)</a:t>
            </a:r>
          </a:p>
        </p:txBody>
      </p:sp>
      <p:sp>
        <p:nvSpPr>
          <p:cNvPr id="8" name="Rounded Rectangle 7"/>
          <p:cNvSpPr/>
          <p:nvPr/>
        </p:nvSpPr>
        <p:spPr>
          <a:xfrm>
            <a:off x="6272784"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1691640"/>
            <a:ext cx="4809744" cy="4480560"/>
          </a:xfrm>
          <a:prstGeom prst="rect">
            <a:avLst/>
          </a:prstGeom>
          <a:noFill/>
        </p:spPr>
        <p:txBody>
          <a:bodyPr wrap="square">
            <a:spAutoFit/>
          </a:bodyPr>
          <a:lstStyle/>
          <a:p>
            <a:pPr>
              <a:defRPr sz="1200" b="1">
                <a:solidFill>
                  <a:srgbClr val="0D9488"/>
                </a:solidFill>
              </a:defRPr>
            </a:pPr>
            <a:r>
              <a:t>PROCEDURE: SP_UM_HR_ESR_Email_Metadata_Save</a:t>
            </a:r>
          </a:p>
          <a:p>
            <a:pPr>
              <a:spcBef>
                <a:spcPts val="600"/>
              </a:spcBef>
              <a:defRPr sz="1100">
                <a:solidFill>
                  <a:srgbClr val="0F172A"/>
                </a:solidFill>
              </a:defRPr>
            </a:pPr>
            <a:r>
              <a:t>• Atomic Multi-Row Ingestion: When an email is sent to N recipients, Java passes comma-separated strings to the procedure.</a:t>
            </a:r>
          </a:p>
          <a:p>
            <a:pPr>
              <a:spcBef>
                <a:spcPts val="600"/>
              </a:spcBef>
              <a:defRPr sz="1100">
                <a:solidFill>
                  <a:srgbClr val="0F172A"/>
                </a:solidFill>
              </a:defRPr>
            </a:pPr>
            <a:r>
              <a:t>• Operation 'I' (Insert Mode - Scheduler 1):</a:t>
            </a:r>
          </a:p>
          <a:p>
            <a:pPr>
              <a:spcBef>
                <a:spcPts val="600"/>
              </a:spcBef>
              <a:defRPr sz="1100">
                <a:solidFill>
                  <a:srgbClr val="0F172A"/>
                </a:solidFill>
              </a:defRPr>
            </a:pPr>
            <a:r>
              <a:t>  - Splits comma-separated recipients, reply dates, and delays.</a:t>
            </a:r>
          </a:p>
          <a:p>
            <a:pPr>
              <a:spcBef>
                <a:spcPts val="600"/>
              </a:spcBef>
              <a:defRPr sz="1100">
                <a:solidFill>
                  <a:srgbClr val="0F172A"/>
                </a:solidFill>
              </a:defRPr>
            </a:pPr>
            <a:r>
              <a:t>  - Inserts N discrete records, each uniquely identifying (rootThreadId, receiverEmail).</a:t>
            </a:r>
          </a:p>
          <a:p>
            <a:pPr>
              <a:spcBef>
                <a:spcPts val="600"/>
              </a:spcBef>
              <a:defRPr sz="1100">
                <a:solidFill>
                  <a:srgbClr val="0F172A"/>
                </a:solidFill>
              </a:defRPr>
            </a:pPr>
            <a:r>
              <a:t>  - Sets status = 0 if reply_date IS NULL; status = 1 if replied.</a:t>
            </a:r>
          </a:p>
          <a:p>
            <a:pPr>
              <a:spcBef>
                <a:spcPts val="600"/>
              </a:spcBef>
              <a:defRPr sz="1100">
                <a:solidFill>
                  <a:srgbClr val="0F172A"/>
                </a:solidFill>
              </a:defRPr>
            </a:pPr>
            <a:r>
              <a:t>• Operation 'U' (Update Mode - Scheduler 2):</a:t>
            </a:r>
          </a:p>
          <a:p>
            <a:pPr>
              <a:spcBef>
                <a:spcPts val="600"/>
              </a:spcBef>
              <a:defRPr sz="1100">
                <a:solidFill>
                  <a:srgbClr val="0F172A"/>
                </a:solidFill>
              </a:defRPr>
            </a:pPr>
            <a:r>
              <a:t>  - Takes comma-separated bulkIds, bulkReplyDates, bulkReplyDelayHours.</a:t>
            </a:r>
          </a:p>
          <a:p>
            <a:pPr>
              <a:spcBef>
                <a:spcPts val="600"/>
              </a:spcBef>
              <a:defRPr sz="1100">
                <a:solidFill>
                  <a:srgbClr val="0F172A"/>
                </a:solidFill>
              </a:defRPr>
            </a:pPr>
            <a:r>
              <a:t>  - Performs high-speed batch updates on existing rows.</a:t>
            </a:r>
          </a:p>
          <a:p>
            <a:pPr>
              <a:spcBef>
                <a:spcPts val="600"/>
              </a:spcBef>
              <a:defRPr sz="1100">
                <a:solidFill>
                  <a:srgbClr val="0F172A"/>
                </a:solidFill>
              </a:defRPr>
            </a:pPr>
            <a:r>
              <a:t>• Enterprise Safety: Centralized in SQL Server stored procedure, maintaining ACID transactional integrity.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HEART #2</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Scheduler #2: Pending Reply Sync Mechanism</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809744" cy="4480560"/>
          </a:xfrm>
          <a:prstGeom prst="rect">
            <a:avLst/>
          </a:prstGeom>
          <a:noFill/>
        </p:spPr>
        <p:txBody>
          <a:bodyPr wrap="square">
            <a:spAutoFit/>
          </a:bodyPr>
          <a:lstStyle/>
          <a:p>
            <a:pPr>
              <a:defRPr sz="1200" b="1">
                <a:solidFill>
                  <a:srgbClr val="2563EB"/>
                </a:solidFill>
              </a:defRPr>
            </a:pPr>
            <a:r>
              <a:t>THE LIFECYCLE CLOSER ENGINE</a:t>
            </a:r>
          </a:p>
          <a:p>
            <a:pPr>
              <a:spcBef>
                <a:spcPts val="600"/>
              </a:spcBef>
              <a:defRPr sz="1100">
                <a:solidFill>
                  <a:srgbClr val="0F172A"/>
                </a:solidFill>
              </a:defRPr>
            </a:pPr>
            <a:r>
              <a:t>1. Trigger: EmailsReplierInfoFetchJob runs on a recurring cron (cron = '0 0/2 * * * ?').</a:t>
            </a:r>
          </a:p>
          <a:p>
            <a:pPr>
              <a:spcBef>
                <a:spcPts val="600"/>
              </a:spcBef>
              <a:defRPr sz="1100">
                <a:solidFill>
                  <a:srgbClr val="0F172A"/>
                </a:solidFill>
              </a:defRPr>
            </a:pPr>
            <a:r>
              <a:t>2. Identify Unreplied Rows: Queries repository.unrepliedThreadList():</a:t>
            </a:r>
            <a:br/>
            <a:r>
              <a:t>SELECT id, rootThreadId, receiverEmail, senderEmail FROM EmailMetadata WHERE status = false ORDER BY deliveredDate ASC.</a:t>
            </a:r>
          </a:p>
          <a:p>
            <a:pPr>
              <a:spcBef>
                <a:spcPts val="600"/>
              </a:spcBef>
              <a:defRPr sz="1100">
                <a:solidFill>
                  <a:srgbClr val="0F172A"/>
                </a:solidFill>
              </a:defRPr>
            </a:pPr>
            <a:r>
              <a:t>3. Authenticate Impersonation: Obtains Gmail client impersonating the original sender (e.g. hr@daffodilvarsity.edu.bd).</a:t>
            </a:r>
          </a:p>
          <a:p>
            <a:pPr>
              <a:spcBef>
                <a:spcPts val="600"/>
              </a:spcBef>
              <a:defRPr sz="1100">
                <a:solidFill>
                  <a:srgbClr val="0F172A"/>
                </a:solidFill>
              </a:defRPr>
            </a:pPr>
            <a:r>
              <a:t>4. Re-Inspect Thread: Calls threads.get('me', rootThreadId) to fetch the latest state of the entire conversation.</a:t>
            </a:r>
          </a:p>
          <a:p>
            <a:pPr>
              <a:spcBef>
                <a:spcPts val="600"/>
              </a:spcBef>
              <a:defRPr sz="1100">
                <a:solidFill>
                  <a:srgbClr val="0F172A"/>
                </a:solidFill>
              </a:defRPr>
            </a:pPr>
            <a:r>
              <a:t>5. Match &amp; Calculate: Scans for new messages sent by receiverEmail. Calculates reply delay and timestamps.</a:t>
            </a:r>
          </a:p>
        </p:txBody>
      </p:sp>
      <p:sp>
        <p:nvSpPr>
          <p:cNvPr id="8" name="Rounded Rectangle 7"/>
          <p:cNvSpPr/>
          <p:nvPr/>
        </p:nvSpPr>
        <p:spPr>
          <a:xfrm>
            <a:off x="6272784"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1691640"/>
            <a:ext cx="4809744" cy="4480560"/>
          </a:xfrm>
          <a:prstGeom prst="rect">
            <a:avLst/>
          </a:prstGeom>
          <a:noFill/>
        </p:spPr>
        <p:txBody>
          <a:bodyPr wrap="square">
            <a:spAutoFit/>
          </a:bodyPr>
          <a:lstStyle/>
          <a:p>
            <a:pPr>
              <a:defRPr sz="1200" b="1">
                <a:solidFill>
                  <a:srgbClr val="10B981"/>
                </a:solidFill>
              </a:defRPr>
            </a:pPr>
            <a:r>
              <a:t>BATCH SYNCHRONIZATION FLOW</a:t>
            </a:r>
          </a:p>
          <a:p>
            <a:pPr>
              <a:spcBef>
                <a:spcPts val="800"/>
              </a:spcBef>
              <a:defRPr sz="1100">
                <a:solidFill>
                  <a:srgbClr val="0F172A"/>
                </a:solidFill>
              </a:defRPr>
            </a:pPr>
            <a:r>
              <a:t>• In-Memory Accumulator: As replies are discovered, Scheduler 2 builds comma-separated batches:</a:t>
            </a:r>
          </a:p>
          <a:p>
            <a:pPr>
              <a:spcBef>
                <a:spcPts val="800"/>
              </a:spcBef>
              <a:defRPr sz="1100">
                <a:solidFill>
                  <a:srgbClr val="0F172A"/>
                </a:solidFill>
              </a:defRPr>
            </a:pPr>
            <a:r>
              <a:t>  bulkIds = '101,102,105'</a:t>
            </a:r>
          </a:p>
          <a:p>
            <a:pPr>
              <a:spcBef>
                <a:spcPts val="800"/>
              </a:spcBef>
              <a:defRPr sz="1100">
                <a:solidFill>
                  <a:srgbClr val="0F172A"/>
                </a:solidFill>
              </a:defRPr>
            </a:pPr>
            <a:r>
              <a:t>  bulkReplyDates = '2026-09-02 11:30:00,...'</a:t>
            </a:r>
          </a:p>
          <a:p>
            <a:pPr>
              <a:spcBef>
                <a:spcPts val="800"/>
              </a:spcBef>
              <a:defRPr sz="1100">
                <a:solidFill>
                  <a:srgbClr val="0F172A"/>
                </a:solidFill>
              </a:defRPr>
            </a:pPr>
            <a:r>
              <a:t>  bulkReplyDelayHours = '26.50,...'</a:t>
            </a:r>
          </a:p>
          <a:p>
            <a:pPr>
              <a:spcBef>
                <a:spcPts val="800"/>
              </a:spcBef>
              <a:defRPr sz="1100">
                <a:solidFill>
                  <a:srgbClr val="0F172A"/>
                </a:solidFill>
              </a:defRPr>
            </a:pPr>
            <a:r>
              <a:t>• Single DB Call: At the end of the run, saveToDB(..., 'U') executes ONE batch update query for all detected replies.</a:t>
            </a:r>
          </a:p>
          <a:p>
            <a:pPr>
              <a:spcBef>
                <a:spcPts val="800"/>
              </a:spcBef>
              <a:defRPr sz="1100">
                <a:solidFill>
                  <a:srgbClr val="0F172A"/>
                </a:solidFill>
              </a:defRPr>
            </a:pPr>
            <a:r>
              <a:t>• Status Flip: Rows are marked status = 1 (true), removing them from future unreplied candidate queries.</a:t>
            </a:r>
          </a:p>
          <a:p>
            <a:pPr>
              <a:spcBef>
                <a:spcPts val="800"/>
              </a:spcBef>
              <a:defRPr sz="1100">
                <a:solidFill>
                  <a:srgbClr val="0F172A"/>
                </a:solidFill>
              </a:defRPr>
            </a:pPr>
            <a:r>
              <a:t>• Zero Drift: Employees who reply late (even days later) have their exact delay recorded accurately.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API DEEP DIVE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Gmail Thread Architecture: Semantics &amp; Proof</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809744" cy="4480560"/>
          </a:xfrm>
          <a:prstGeom prst="rect">
            <a:avLst/>
          </a:prstGeom>
          <a:noFill/>
        </p:spPr>
        <p:txBody>
          <a:bodyPr wrap="square">
            <a:spAutoFit/>
          </a:bodyPr>
          <a:lstStyle/>
          <a:p>
            <a:pPr>
              <a:defRPr sz="1200" b="1">
                <a:solidFill>
                  <a:srgbClr val="1E40AF"/>
                </a:solidFill>
              </a:defRPr>
            </a:pPr>
            <a:r>
              <a:t>CORE QUESTION: HOW THREADS BEHAVE</a:t>
            </a:r>
          </a:p>
          <a:p>
            <a:pPr>
              <a:spcBef>
                <a:spcPts val="800"/>
              </a:spcBef>
              <a:defRPr sz="1100">
                <a:solidFill>
                  <a:srgbClr val="0F172A"/>
                </a:solidFill>
              </a:defRPr>
            </a:pPr>
            <a:r>
              <a:t>• Developer's Critical Question:</a:t>
            </a:r>
          </a:p>
          <a:p>
            <a:pPr>
              <a:spcBef>
                <a:spcPts val="800"/>
              </a:spcBef>
              <a:defRPr sz="1100">
                <a:solidFill>
                  <a:srgbClr val="0F172A"/>
                </a:solidFill>
              </a:defRPr>
            </a:pPr>
            <a:r>
              <a:t>  'Is a thread unique over a specific conversation, or does threads.list also return reply-type threads?'</a:t>
            </a:r>
          </a:p>
          <a:p>
            <a:pPr>
              <a:spcBef>
                <a:spcPts val="800"/>
              </a:spcBef>
              <a:defRPr sz="1100">
                <a:solidFill>
                  <a:srgbClr val="0F172A"/>
                </a:solidFill>
              </a:defRPr>
            </a:pPr>
            <a:r>
              <a:t>• The Technical Truth:</a:t>
            </a:r>
          </a:p>
          <a:p>
            <a:pPr>
              <a:spcBef>
                <a:spcPts val="800"/>
              </a:spcBef>
              <a:defRPr sz="1100">
                <a:solidFill>
                  <a:srgbClr val="0F172A"/>
                </a:solidFill>
              </a:defRPr>
            </a:pPr>
            <a:r>
              <a:t>  1. A Thread ID is 100% UNIQUE per conversation tree.</a:t>
            </a:r>
          </a:p>
          <a:p>
            <a:pPr>
              <a:spcBef>
                <a:spcPts val="800"/>
              </a:spcBef>
              <a:defRPr sz="1100">
                <a:solidFill>
                  <a:srgbClr val="0F172A"/>
                </a:solidFill>
              </a:defRPr>
            </a:pPr>
            <a:r>
              <a:t>  2. threads.list() returns THREAD IDs, NOT individual messages.</a:t>
            </a:r>
          </a:p>
          <a:p>
            <a:pPr>
              <a:spcBef>
                <a:spcPts val="800"/>
              </a:spcBef>
              <a:defRPr sz="1100">
                <a:solidFill>
                  <a:srgbClr val="0F172A"/>
                </a:solidFill>
              </a:defRPr>
            </a:pPr>
            <a:r>
              <a:t>  3. Even if 10 people reply and forward inside a conversation, it remains ONE SINGLE THREAD ID.</a:t>
            </a:r>
          </a:p>
          <a:p>
            <a:pPr>
              <a:spcBef>
                <a:spcPts val="800"/>
              </a:spcBef>
              <a:defRPr sz="1100">
                <a:solidFill>
                  <a:srgbClr val="0F172A"/>
                </a:solidFill>
              </a:defRPr>
            </a:pPr>
            <a:r>
              <a:t>  4. threads.list() returns that thread ID exactly ONCE.</a:t>
            </a:r>
          </a:p>
        </p:txBody>
      </p:sp>
      <p:sp>
        <p:nvSpPr>
          <p:cNvPr id="8" name="Rounded Rectangle 7"/>
          <p:cNvSpPr/>
          <p:nvPr/>
        </p:nvSpPr>
        <p:spPr>
          <a:xfrm>
            <a:off x="6272784"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1691640"/>
            <a:ext cx="4809744" cy="4480560"/>
          </a:xfrm>
          <a:prstGeom prst="rect">
            <a:avLst/>
          </a:prstGeom>
          <a:noFill/>
        </p:spPr>
        <p:txBody>
          <a:bodyPr wrap="square">
            <a:spAutoFit/>
          </a:bodyPr>
          <a:lstStyle/>
          <a:p>
            <a:pPr>
              <a:defRPr sz="1200" b="1">
                <a:solidFill>
                  <a:srgbClr val="10B981"/>
                </a:solidFill>
              </a:defRPr>
            </a:pPr>
            <a:r>
              <a:t>DOES threads.get() FILTER BY DATE?</a:t>
            </a:r>
          </a:p>
          <a:p>
            <a:pPr>
              <a:spcBef>
                <a:spcPts val="800"/>
              </a:spcBef>
              <a:defRPr sz="1100">
                <a:solidFill>
                  <a:srgbClr val="0F172A"/>
                </a:solidFill>
              </a:defRPr>
            </a:pPr>
            <a:r>
              <a:t>• Definitive Answer: NO! threads.get() NEVER filters by date.</a:t>
            </a:r>
          </a:p>
          <a:p>
            <a:pPr>
              <a:spcBef>
                <a:spcPts val="800"/>
              </a:spcBef>
              <a:defRPr sz="1100">
                <a:solidFill>
                  <a:srgbClr val="0F172A"/>
                </a:solidFill>
              </a:defRPr>
            </a:pPr>
            <a:r>
              <a:t>• What threads.get('me', threadId) Actually Returns:</a:t>
            </a:r>
          </a:p>
          <a:p>
            <a:pPr>
              <a:spcBef>
                <a:spcPts val="800"/>
              </a:spcBef>
              <a:defRPr sz="1100">
                <a:solidFill>
                  <a:srgbClr val="0F172A"/>
                </a:solidFill>
              </a:defRPr>
            </a:pPr>
            <a:r>
              <a:t>  It returns EVERY message ever sent in that conversation, from day 1 up to the current second.</a:t>
            </a:r>
          </a:p>
          <a:p>
            <a:pPr>
              <a:spcBef>
                <a:spcPts val="800"/>
              </a:spcBef>
              <a:defRPr sz="1100">
                <a:solidFill>
                  <a:srgbClr val="0F172A"/>
                </a:solidFill>
              </a:defRPr>
            </a:pPr>
            <a:r>
              <a:t>• Why This Is The Key To Scheduler 2's Success:</a:t>
            </a:r>
          </a:p>
          <a:p>
            <a:pPr>
              <a:spcBef>
                <a:spcPts val="800"/>
              </a:spcBef>
              <a:defRPr sz="1100">
                <a:solidFill>
                  <a:srgbClr val="0F172A"/>
                </a:solidFill>
              </a:defRPr>
            </a:pPr>
            <a:r>
              <a:t>  - When Scheduler 1 ran on Day 1, only Message [0] existed.</a:t>
            </a:r>
          </a:p>
          <a:p>
            <a:pPr>
              <a:spcBef>
                <a:spcPts val="800"/>
              </a:spcBef>
              <a:defRPr sz="1100">
                <a:solidFill>
                  <a:srgbClr val="0F172A"/>
                </a:solidFill>
              </a:defRPr>
            </a:pPr>
            <a:r>
              <a:t>  - Recipient C replies on Day 5.</a:t>
            </a:r>
          </a:p>
          <a:p>
            <a:pPr>
              <a:spcBef>
                <a:spcPts val="800"/>
              </a:spcBef>
              <a:defRPr sz="1100">
                <a:solidFill>
                  <a:srgbClr val="0F172A"/>
                </a:solidFill>
              </a:defRPr>
            </a:pPr>
            <a:r>
              <a:t>  - When Scheduler 2 calls threads.get() on Day 5, it receives Message [0] AND Reply [1].</a:t>
            </a:r>
          </a:p>
          <a:p>
            <a:pPr>
              <a:spcBef>
                <a:spcPts val="800"/>
              </a:spcBef>
              <a:defRPr sz="1100">
                <a:solidFill>
                  <a:srgbClr val="0F172A"/>
                </a:solidFill>
              </a:defRPr>
            </a:pPr>
            <a:r>
              <a:t>  - Scheduler 2 detects Reply [1] immediately without needing complex date queries!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PERFORMANCE OPTIMIZATION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Redundancy Analysis &amp; Thread Caching Optimization</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5175504"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809744" cy="4480560"/>
          </a:xfrm>
          <a:prstGeom prst="rect">
            <a:avLst/>
          </a:prstGeom>
          <a:noFill/>
        </p:spPr>
        <p:txBody>
          <a:bodyPr wrap="square">
            <a:spAutoFit/>
          </a:bodyPr>
          <a:lstStyle/>
          <a:p>
            <a:pPr>
              <a:defRPr sz="1200" b="1">
                <a:solidFill>
                  <a:srgbClr val="E11D48"/>
                </a:solidFill>
              </a:defRPr>
            </a:pPr>
            <a:r>
              <a:t>THE REDUNDANCY HAZARD IDENTIFIED</a:t>
            </a:r>
          </a:p>
          <a:p>
            <a:pPr>
              <a:spcBef>
                <a:spcPts val="600"/>
              </a:spcBef>
              <a:defRPr sz="1100">
                <a:solidFill>
                  <a:srgbClr val="0F172A"/>
                </a:solidFill>
              </a:defRPr>
            </a:pPr>
            <a:r>
              <a:t>• Scenario: HR sends 1 notice to 5 employees (A, B, C, D, E). None replied yet.</a:t>
            </a:r>
          </a:p>
          <a:p>
            <a:pPr>
              <a:spcBef>
                <a:spcPts val="600"/>
              </a:spcBef>
              <a:defRPr sz="1100">
                <a:solidFill>
                  <a:srgbClr val="0F172A"/>
                </a:solidFill>
              </a:defRPr>
            </a:pPr>
            <a:r>
              <a:t>• Database State: 5 distinct rows in UM_HR_ESR_Email_Metadata, all with rootThreadId = '18f3a2b'.</a:t>
            </a:r>
          </a:p>
          <a:p>
            <a:pPr>
              <a:spcBef>
                <a:spcPts val="600"/>
              </a:spcBef>
              <a:defRPr sz="1100">
                <a:solidFill>
                  <a:srgbClr val="0F172A"/>
                </a:solidFill>
              </a:defRPr>
            </a:pPr>
            <a:r>
              <a:t>• Naive Loop in Scheduler 2:</a:t>
            </a:r>
          </a:p>
          <a:p>
            <a:pPr>
              <a:spcBef>
                <a:spcPts val="600"/>
              </a:spcBef>
              <a:defRPr sz="1100">
                <a:solidFill>
                  <a:srgbClr val="0F172A"/>
                </a:solidFill>
              </a:defRPr>
            </a:pPr>
            <a:r>
              <a:t>  Row 1 (A) -&gt; calls threads.get('18f3a2b') [API Call 1]</a:t>
            </a:r>
          </a:p>
          <a:p>
            <a:pPr>
              <a:spcBef>
                <a:spcPts val="600"/>
              </a:spcBef>
              <a:defRPr sz="1100">
                <a:solidFill>
                  <a:srgbClr val="0F172A"/>
                </a:solidFill>
              </a:defRPr>
            </a:pPr>
            <a:r>
              <a:t>  Row 2 (B) -&gt; calls threads.get('18f3a2b') [API Call 2]</a:t>
            </a:r>
          </a:p>
          <a:p>
            <a:pPr>
              <a:spcBef>
                <a:spcPts val="600"/>
              </a:spcBef>
              <a:defRPr sz="1100">
                <a:solidFill>
                  <a:srgbClr val="0F172A"/>
                </a:solidFill>
              </a:defRPr>
            </a:pPr>
            <a:r>
              <a:t>  Row 3 (C) -&gt; calls threads.get('18f3a2b') [API Call 3]</a:t>
            </a:r>
          </a:p>
          <a:p>
            <a:pPr>
              <a:spcBef>
                <a:spcPts val="600"/>
              </a:spcBef>
              <a:defRPr sz="1100">
                <a:solidFill>
                  <a:srgbClr val="0F172A"/>
                </a:solidFill>
              </a:defRPr>
            </a:pPr>
            <a:r>
              <a:t>  Row 4 (D) -&gt; calls threads.get('18f3a2b') [API Call 4]</a:t>
            </a:r>
          </a:p>
          <a:p>
            <a:pPr>
              <a:spcBef>
                <a:spcPts val="600"/>
              </a:spcBef>
              <a:defRPr sz="1100">
                <a:solidFill>
                  <a:srgbClr val="0F172A"/>
                </a:solidFill>
              </a:defRPr>
            </a:pPr>
            <a:r>
              <a:t>  Row 5 (E) -&gt; calls threads.get('18f3a2b') [API Call 5]</a:t>
            </a:r>
          </a:p>
          <a:p>
            <a:pPr>
              <a:spcBef>
                <a:spcPts val="600"/>
              </a:spcBef>
              <a:defRPr sz="1100">
                <a:solidFill>
                  <a:srgbClr val="0F172A"/>
                </a:solidFill>
              </a:defRPr>
            </a:pPr>
            <a:r>
              <a:t>• Problem: 5 calls to Google API for the EXACT SAME conversation thread! Wastes quota and slows performance.</a:t>
            </a:r>
          </a:p>
        </p:txBody>
      </p:sp>
      <p:sp>
        <p:nvSpPr>
          <p:cNvPr id="8" name="Rounded Rectangle 7"/>
          <p:cNvSpPr/>
          <p:nvPr/>
        </p:nvSpPr>
        <p:spPr>
          <a:xfrm>
            <a:off x="6272784" y="1508760"/>
            <a:ext cx="5175504"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1691640"/>
            <a:ext cx="4809744" cy="4480560"/>
          </a:xfrm>
          <a:prstGeom prst="rect">
            <a:avLst/>
          </a:prstGeom>
          <a:noFill/>
        </p:spPr>
        <p:txBody>
          <a:bodyPr wrap="square">
            <a:spAutoFit/>
          </a:bodyPr>
          <a:lstStyle/>
          <a:p>
            <a:pPr>
              <a:defRPr sz="1200" b="1">
                <a:solidFill>
                  <a:srgbClr val="93C5FD"/>
                </a:solidFill>
              </a:defRPr>
            </a:pPr>
            <a:r>
              <a:t>OUR SOLUTION: IN-MEMORY THREAD CACHE</a:t>
            </a:r>
          </a:p>
          <a:p>
            <a:pPr>
              <a:spcBef>
                <a:spcPts val="1000"/>
              </a:spcBef>
              <a:defRPr sz="950">
                <a:solidFill>
                  <a:srgbClr val="E2E8F0"/>
                </a:solidFill>
                <a:latin typeface="Consolas"/>
              </a:defRPr>
            </a:pPr>
            <a:r>
              <a:t>// Implemented in EmailMetadataPersistToDBService</a:t>
            </a:r>
            <a:br/>
            <a:r>
              <a:t>Map&lt;String, EmailMetadataDTO&gt; replyCache = new HashMap&lt;&gt;();</a:t>
            </a:r>
            <a:br/>
            <a:br/>
            <a:r>
              <a:t>for (Map&lt;String, Object&gt; mp : notRepliedThreadList) {</a:t>
            </a:r>
            <a:br/>
            <a:r>
              <a:t>    String threadId = (String) mp.get("rootThreadId");</a:t>
            </a:r>
            <a:br/>
            <a:br/>
            <a:r>
              <a:t>    if (replyCache.containsKey(threadId)) {</a:t>
            </a:r>
            <a:br/>
            <a:r>
              <a:t>        // REUSE CACHED THREAD METADATA (0 API CALLS)</a:t>
            </a:r>
            <a:br/>
            <a:r>
              <a:t>        dto = replyCache.get(threadId);</a:t>
            </a:r>
            <a:br/>
            <a:r>
              <a:t>    } else {</a:t>
            </a:r>
            <a:br/>
            <a:r>
              <a:t>        // FETCH ONCE PER UNIQUE THREAD</a:t>
            </a:r>
            <a:br/>
            <a:r>
              <a:t>        dto = fetchService.processThread(gmail, threadId, ...);</a:t>
            </a:r>
            <a:br/>
            <a:r>
              <a:t>        replyCache.put(threadId, dto);</a:t>
            </a:r>
            <a:br/>
            <a:r>
              <a:t>    }</a:t>
            </a:r>
            <a:br/>
            <a:r>
              <a:t>    // Evaluate receiver on cached dto...</a:t>
            </a:r>
            <a:br/>
            <a:r>
              <a:t>}</a:t>
            </a:r>
          </a:p>
        </p:txBody>
      </p:sp>
      <p:sp>
        <p:nvSpPr>
          <p:cNvPr id="10" name="Rounded Rectangle 9"/>
          <p:cNvSpPr/>
          <p:nvPr/>
        </p:nvSpPr>
        <p:spPr>
          <a:xfrm>
            <a:off x="6455664" y="5394960"/>
            <a:ext cx="4809744" cy="685800"/>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7F3D0"/>
                </a:solidFill>
              </a:defRPr>
            </a:pPr>
            <a:r>
              <a:t>PROVEN IMPACT: 70%+ API Call Reduction! 1,000 pending rows across 250 threads now takes 250 API calls instead of 1,000.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RELIABILITY ENGINEERING</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Edge Cases &amp; Production Resilience</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3328416"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2962656" cy="1874520"/>
          </a:xfrm>
          <a:prstGeom prst="rect">
            <a:avLst/>
          </a:prstGeom>
          <a:noFill/>
        </p:spPr>
        <p:txBody>
          <a:bodyPr wrap="square">
            <a:spAutoFit/>
          </a:bodyPr>
          <a:lstStyle/>
          <a:p>
            <a:pPr>
              <a:defRPr sz="1100" b="1">
                <a:solidFill>
                  <a:srgbClr val="1E40AF"/>
                </a:solidFill>
              </a:defRPr>
            </a:pPr>
            <a:r>
              <a:t>Multiple Replies from Same User</a:t>
            </a:r>
          </a:p>
          <a:p>
            <a:pPr>
              <a:spcBef>
                <a:spcPts val="600"/>
              </a:spcBef>
              <a:defRPr sz="1050">
                <a:solidFill>
                  <a:srgbClr val="0F172A"/>
                </a:solidFill>
              </a:defRPr>
            </a:pPr>
            <a:r>
              <a:t>Earliest Reply Rule: When an employee sends several follow-ups, the shortest delay timestamp is strictly preserved.</a:t>
            </a:r>
          </a:p>
        </p:txBody>
      </p:sp>
      <p:sp>
        <p:nvSpPr>
          <p:cNvPr id="8" name="Rounded Rectangle 7"/>
          <p:cNvSpPr/>
          <p:nvPr/>
        </p:nvSpPr>
        <p:spPr>
          <a:xfrm>
            <a:off x="4425696" y="1508760"/>
            <a:ext cx="3328416"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691640"/>
            <a:ext cx="2962656" cy="1874520"/>
          </a:xfrm>
          <a:prstGeom prst="rect">
            <a:avLst/>
          </a:prstGeom>
          <a:noFill/>
        </p:spPr>
        <p:txBody>
          <a:bodyPr wrap="square">
            <a:spAutoFit/>
          </a:bodyPr>
          <a:lstStyle/>
          <a:p>
            <a:pPr>
              <a:defRPr sz="1100" b="1">
                <a:solidFill>
                  <a:srgbClr val="2563EB"/>
                </a:solidFill>
              </a:defRPr>
            </a:pPr>
            <a:r>
              <a:t>Sender Replies to Own Thread</a:t>
            </a:r>
          </a:p>
          <a:p>
            <a:pPr>
              <a:spcBef>
                <a:spcPts val="600"/>
              </a:spcBef>
              <a:defRPr sz="1050">
                <a:solidFill>
                  <a:srgbClr val="0F172A"/>
                </a:solidFill>
              </a:defRPr>
            </a:pPr>
            <a:r>
              <a:t>Recipient Validation: hr@ sending a follow-up is ignored because hr@ is not in the extracted receiverEmails list.</a:t>
            </a:r>
          </a:p>
        </p:txBody>
      </p:sp>
      <p:sp>
        <p:nvSpPr>
          <p:cNvPr id="10" name="Rounded Rectangle 9"/>
          <p:cNvSpPr/>
          <p:nvPr/>
        </p:nvSpPr>
        <p:spPr>
          <a:xfrm>
            <a:off x="8119872" y="1508760"/>
            <a:ext cx="3328416"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691640"/>
            <a:ext cx="2962656" cy="1874520"/>
          </a:xfrm>
          <a:prstGeom prst="rect">
            <a:avLst/>
          </a:prstGeom>
          <a:noFill/>
        </p:spPr>
        <p:txBody>
          <a:bodyPr wrap="square">
            <a:spAutoFit/>
          </a:bodyPr>
          <a:lstStyle/>
          <a:p>
            <a:pPr>
              <a:defRPr sz="1100" b="1">
                <a:solidFill>
                  <a:srgbClr val="0D9488"/>
                </a:solidFill>
              </a:defRPr>
            </a:pPr>
            <a:r>
              <a:t>Forwarded Conversations</a:t>
            </a:r>
          </a:p>
          <a:p>
            <a:pPr>
              <a:spcBef>
                <a:spcPts val="600"/>
              </a:spcBef>
              <a:defRPr sz="1050">
                <a:solidFill>
                  <a:srgbClr val="0F172A"/>
                </a:solidFill>
              </a:defRPr>
            </a:pPr>
            <a:r>
              <a:t>Root Isolation: Even if someone forwards the email externally, index 0 remains the original root sender.</a:t>
            </a:r>
          </a:p>
        </p:txBody>
      </p:sp>
      <p:sp>
        <p:nvSpPr>
          <p:cNvPr id="12" name="Rounded Rectangle 11"/>
          <p:cNvSpPr/>
          <p:nvPr/>
        </p:nvSpPr>
        <p:spPr>
          <a:xfrm>
            <a:off x="731520" y="3977639"/>
            <a:ext cx="3328416"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19"/>
            <a:ext cx="2962656" cy="1874520"/>
          </a:xfrm>
          <a:prstGeom prst="rect">
            <a:avLst/>
          </a:prstGeom>
          <a:noFill/>
        </p:spPr>
        <p:txBody>
          <a:bodyPr wrap="square">
            <a:spAutoFit/>
          </a:bodyPr>
          <a:lstStyle/>
          <a:p>
            <a:pPr>
              <a:defRPr sz="1100" b="1">
                <a:solidFill>
                  <a:srgbClr val="D97706"/>
                </a:solidFill>
              </a:defRPr>
            </a:pPr>
            <a:r>
              <a:t>Large Recipient Lists</a:t>
            </a:r>
          </a:p>
          <a:p>
            <a:pPr>
              <a:spcBef>
                <a:spcPts val="600"/>
              </a:spcBef>
              <a:defRPr sz="1050">
                <a:solidFill>
                  <a:srgbClr val="0F172A"/>
                </a:solidFill>
              </a:defRPr>
            </a:pPr>
            <a:r>
              <a:t>Bulk Comma Parsing: Handles emails sent to 50+ recipients using vectorized array packing and stored procedure splitting.</a:t>
            </a:r>
          </a:p>
        </p:txBody>
      </p:sp>
      <p:sp>
        <p:nvSpPr>
          <p:cNvPr id="14" name="Rounded Rectangle 13"/>
          <p:cNvSpPr/>
          <p:nvPr/>
        </p:nvSpPr>
        <p:spPr>
          <a:xfrm>
            <a:off x="4425696" y="3977639"/>
            <a:ext cx="3328416"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4160519"/>
            <a:ext cx="2962656" cy="1874520"/>
          </a:xfrm>
          <a:prstGeom prst="rect">
            <a:avLst/>
          </a:prstGeom>
          <a:noFill/>
        </p:spPr>
        <p:txBody>
          <a:bodyPr wrap="square">
            <a:spAutoFit/>
          </a:bodyPr>
          <a:lstStyle/>
          <a:p>
            <a:pPr>
              <a:defRPr sz="1100" b="1">
                <a:solidFill>
                  <a:srgbClr val="E11D48"/>
                </a:solidFill>
              </a:defRPr>
            </a:pPr>
            <a:r>
              <a:t>Mailbox Access Exceptions</a:t>
            </a:r>
          </a:p>
          <a:p>
            <a:pPr>
              <a:spcBef>
                <a:spcPts val="600"/>
              </a:spcBef>
              <a:defRPr sz="1050">
                <a:solidFill>
                  <a:srgbClr val="0F172A"/>
                </a:solidFill>
              </a:defRPr>
            </a:pPr>
            <a:r>
              <a:t>Fault Tolerance: Isolated try-catch around individual mailboxes and threads ensures one timeout never crashes the scheduler.</a:t>
            </a:r>
          </a:p>
        </p:txBody>
      </p:sp>
      <p:sp>
        <p:nvSpPr>
          <p:cNvPr id="16" name="Rounded Rectangle 15"/>
          <p:cNvSpPr/>
          <p:nvPr/>
        </p:nvSpPr>
        <p:spPr>
          <a:xfrm>
            <a:off x="8119872" y="3977639"/>
            <a:ext cx="3328416"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4160519"/>
            <a:ext cx="2962656" cy="1874520"/>
          </a:xfrm>
          <a:prstGeom prst="rect">
            <a:avLst/>
          </a:prstGeom>
          <a:noFill/>
        </p:spPr>
        <p:txBody>
          <a:bodyPr wrap="square">
            <a:spAutoFit/>
          </a:bodyPr>
          <a:lstStyle/>
          <a:p>
            <a:pPr>
              <a:defRPr sz="1100" b="1">
                <a:solidFill>
                  <a:srgbClr val="10B981"/>
                </a:solidFill>
              </a:defRPr>
            </a:pPr>
            <a:r>
              <a:t>Timezone Boundary Drift</a:t>
            </a:r>
          </a:p>
          <a:p>
            <a:pPr>
              <a:spcBef>
                <a:spcPts val="600"/>
              </a:spcBef>
              <a:defRPr sz="1050">
                <a:solidFill>
                  <a:srgbClr val="0F172A"/>
                </a:solidFill>
              </a:defRPr>
            </a:pPr>
            <a:r>
              <a:t>Asia/Dhaka Epoch Alignment: Hardened epoch math guarantees zero date skew between UTC server time and local office 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BUSINESS VALUE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Business Impact &amp; SLA Reporting Capabilities</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2962656" cy="4480560"/>
          </a:xfrm>
          <a:prstGeom prst="rect">
            <a:avLst/>
          </a:prstGeom>
          <a:noFill/>
        </p:spPr>
        <p:txBody>
          <a:bodyPr wrap="square">
            <a:spAutoFit/>
          </a:bodyPr>
          <a:lstStyle/>
          <a:p>
            <a:pPr>
              <a:defRPr sz="1200" b="1">
                <a:solidFill>
                  <a:srgbClr val="1E40AF"/>
                </a:solidFill>
              </a:defRPr>
            </a:pPr>
            <a:r>
              <a:t>CORE SLA METRICS TRACKED</a:t>
            </a:r>
          </a:p>
          <a:p>
            <a:pPr>
              <a:spcBef>
                <a:spcPts val="1000"/>
              </a:spcBef>
              <a:defRPr sz="1100">
                <a:solidFill>
                  <a:srgbClr val="0F172A"/>
                </a:solidFill>
              </a:defRPr>
            </a:pPr>
            <a:r>
              <a:t>• Response Delay (Hours): Exact elapsed time from root delivery to employee reply.</a:t>
            </a:r>
          </a:p>
          <a:p>
            <a:pPr>
              <a:spcBef>
                <a:spcPts val="1000"/>
              </a:spcBef>
              <a:defRPr sz="1100">
                <a:solidFill>
                  <a:srgbClr val="0F172A"/>
                </a:solidFill>
              </a:defRPr>
            </a:pPr>
            <a:r>
              <a:t>• SLA Compliance Threshold: Standard 8-hour target configured in application.properties.</a:t>
            </a:r>
          </a:p>
          <a:p>
            <a:pPr>
              <a:spcBef>
                <a:spcPts val="1000"/>
              </a:spcBef>
              <a:defRPr sz="1100">
                <a:solidFill>
                  <a:srgbClr val="0F172A"/>
                </a:solidFill>
              </a:defRPr>
            </a:pPr>
            <a:r>
              <a:t>• Delinquent Non-Replies: Count of employees who have never replied to official communications after 24h, 48h, 72h.</a:t>
            </a:r>
          </a:p>
          <a:p>
            <a:pPr>
              <a:spcBef>
                <a:spcPts val="1000"/>
              </a:spcBef>
              <a:defRPr sz="1100">
                <a:solidFill>
                  <a:srgbClr val="0F172A"/>
                </a:solidFill>
              </a:defRPr>
            </a:pPr>
            <a:r>
              <a:t>• Departmental Responsiveness: Aggregate averages across faculties, administrative wings, and academic departments.</a:t>
            </a:r>
          </a:p>
        </p:txBody>
      </p:sp>
      <p:sp>
        <p:nvSpPr>
          <p:cNvPr id="8" name="Rounded Rectangle 7"/>
          <p:cNvSpPr/>
          <p:nvPr/>
        </p:nvSpPr>
        <p:spPr>
          <a:xfrm>
            <a:off x="4425696" y="150876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691640"/>
            <a:ext cx="2962656" cy="4480560"/>
          </a:xfrm>
          <a:prstGeom prst="rect">
            <a:avLst/>
          </a:prstGeom>
          <a:noFill/>
        </p:spPr>
        <p:txBody>
          <a:bodyPr wrap="square">
            <a:spAutoFit/>
          </a:bodyPr>
          <a:lstStyle/>
          <a:p>
            <a:pPr>
              <a:defRPr sz="1200" b="1">
                <a:solidFill>
                  <a:srgbClr val="0D9488"/>
                </a:solidFill>
              </a:defRPr>
            </a:pPr>
            <a:r>
              <a:t>MANAGEMENT VISIBILITY</a:t>
            </a:r>
          </a:p>
          <a:p>
            <a:pPr>
              <a:spcBef>
                <a:spcPts val="1200"/>
              </a:spcBef>
              <a:defRPr sz="1100">
                <a:solidFill>
                  <a:srgbClr val="0F172A"/>
                </a:solidFill>
              </a:defRPr>
            </a:pPr>
            <a:r>
              <a:t>• Daily Delinquency Digest: Executive overview sent to Chairman and Office Heads.</a:t>
            </a:r>
          </a:p>
          <a:p>
            <a:pPr>
              <a:spcBef>
                <a:spcPts val="1200"/>
              </a:spcBef>
              <a:defRPr sz="1100">
                <a:solidFill>
                  <a:srgbClr val="0F172A"/>
                </a:solidFill>
              </a:defRPr>
            </a:pPr>
            <a:r>
              <a:t>• Audit-Proof Evidence: Stored root_message_id, reply_message_id, and delivery timestamps eliminate disputes.</a:t>
            </a:r>
          </a:p>
          <a:p>
            <a:pPr>
              <a:spcBef>
                <a:spcPts val="1200"/>
              </a:spcBef>
              <a:defRPr sz="1100">
                <a:solidFill>
                  <a:srgbClr val="0F172A"/>
                </a:solidFill>
              </a:defRPr>
            </a:pPr>
            <a:r>
              <a:t>• Performance Review Feed: Integrates directly with HR appraisal and employee compliance scoring.</a:t>
            </a:r>
          </a:p>
        </p:txBody>
      </p:sp>
      <p:sp>
        <p:nvSpPr>
          <p:cNvPr id="10" name="Rounded Rectangle 9"/>
          <p:cNvSpPr/>
          <p:nvPr/>
        </p:nvSpPr>
        <p:spPr>
          <a:xfrm>
            <a:off x="8119872" y="150876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691640"/>
            <a:ext cx="2962656" cy="4480560"/>
          </a:xfrm>
          <a:prstGeom prst="rect">
            <a:avLst/>
          </a:prstGeom>
          <a:noFill/>
        </p:spPr>
        <p:txBody>
          <a:bodyPr wrap="square">
            <a:spAutoFit/>
          </a:bodyPr>
          <a:lstStyle/>
          <a:p>
            <a:pPr>
              <a:defRPr sz="1200" b="1">
                <a:solidFill>
                  <a:srgbClr val="10B981"/>
                </a:solidFill>
              </a:defRPr>
            </a:pPr>
            <a:r>
              <a:t>ENTERPRISE SCALABILITY</a:t>
            </a:r>
          </a:p>
          <a:p>
            <a:pPr>
              <a:spcBef>
                <a:spcPts val="1200"/>
              </a:spcBef>
              <a:defRPr sz="1100">
                <a:solidFill>
                  <a:srgbClr val="0F172A"/>
                </a:solidFill>
              </a:defRPr>
            </a:pPr>
            <a:r>
              <a:t>• Stateless Execution: Schedulers maintain no dirty state across restarts; DB is the sole truth.</a:t>
            </a:r>
          </a:p>
          <a:p>
            <a:pPr>
              <a:spcBef>
                <a:spcPts val="1200"/>
              </a:spcBef>
              <a:defRPr sz="1100">
                <a:solidFill>
                  <a:srgbClr val="0F172A"/>
                </a:solidFill>
              </a:defRPr>
            </a:pPr>
            <a:r>
              <a:t>• Zero Google User Limits: Service Account Domain-Wide Delegation handles university-wide throughput.</a:t>
            </a:r>
          </a:p>
          <a:p>
            <a:pPr>
              <a:spcBef>
                <a:spcPts val="1200"/>
              </a:spcBef>
              <a:defRPr sz="1100">
                <a:solidFill>
                  <a:srgbClr val="0F172A"/>
                </a:solidFill>
              </a:defRPr>
            </a:pPr>
            <a:r>
              <a:t>• Plug-and-Play Mailboxes: Adding new monitored offices requires zero code modifications—just update application.properties.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FUTURE ENHANCEMENTS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0F172A"/>
                </a:solidFill>
              </a:defRPr>
            </a:pPr>
            <a:r>
              <a:t>Evolutionary Roadmap: From Polling to Push</a:t>
            </a:r>
          </a:p>
        </p:txBody>
      </p:sp>
      <p:sp>
        <p:nvSpPr>
          <p:cNvPr id="5" name="Rectangle 4"/>
          <p:cNvSpPr/>
          <p:nvPr/>
        </p:nvSpPr>
        <p:spPr>
          <a:xfrm>
            <a:off x="731520" y="1298448"/>
            <a:ext cx="1072591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10725912"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91640"/>
            <a:ext cx="10177272" cy="1097280"/>
          </a:xfrm>
          <a:prstGeom prst="rect">
            <a:avLst/>
          </a:prstGeom>
          <a:noFill/>
        </p:spPr>
        <p:txBody>
          <a:bodyPr wrap="square">
            <a:spAutoFit/>
          </a:bodyPr>
          <a:lstStyle/>
          <a:p>
            <a:pPr>
              <a:defRPr sz="1100" b="1">
                <a:solidFill>
                  <a:srgbClr val="10B981"/>
                </a:solidFill>
              </a:defRPr>
            </a:pPr>
            <a:r>
              <a:t>PHASE 1 (COMPLETED - CURRENT STATE)</a:t>
            </a:r>
          </a:p>
          <a:p>
            <a:pPr>
              <a:spcBef>
                <a:spcPts val="200"/>
              </a:spcBef>
              <a:defRPr sz="1200" b="1">
                <a:solidFill>
                  <a:srgbClr val="0F172A"/>
                </a:solidFill>
              </a:defRPr>
            </a:pPr>
            <a:r>
              <a:t>Two-Scheduler Engine + SQL Server Stored Procedure + In-Memory Thread Cache</a:t>
            </a:r>
          </a:p>
          <a:p>
            <a:pPr>
              <a:spcBef>
                <a:spcPts val="400"/>
              </a:spcBef>
              <a:defRPr sz="1050">
                <a:solidFill>
                  <a:srgbClr val="64748B"/>
                </a:solidFill>
              </a:defRPr>
            </a:pPr>
            <a:r>
              <a:t>Fully working baseline tracking previous day outbound emails and performing bulk updates via cache.</a:t>
            </a:r>
          </a:p>
        </p:txBody>
      </p:sp>
      <p:sp>
        <p:nvSpPr>
          <p:cNvPr id="8" name="Rounded Rectangle 7"/>
          <p:cNvSpPr/>
          <p:nvPr/>
        </p:nvSpPr>
        <p:spPr>
          <a:xfrm>
            <a:off x="731520" y="3154680"/>
            <a:ext cx="10725912"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37560"/>
            <a:ext cx="10177272" cy="1097280"/>
          </a:xfrm>
          <a:prstGeom prst="rect">
            <a:avLst/>
          </a:prstGeom>
          <a:noFill/>
        </p:spPr>
        <p:txBody>
          <a:bodyPr wrap="square">
            <a:spAutoFit/>
          </a:bodyPr>
          <a:lstStyle/>
          <a:p>
            <a:pPr>
              <a:defRPr sz="1100" b="1">
                <a:solidFill>
                  <a:srgbClr val="1E40AF"/>
                </a:solidFill>
              </a:defRPr>
            </a:pPr>
            <a:r>
              <a:t>PHASE 2 (NEAR-TERM OPTIMIZATION)</a:t>
            </a:r>
          </a:p>
          <a:p>
            <a:pPr>
              <a:spcBef>
                <a:spcPts val="200"/>
              </a:spcBef>
              <a:defRPr sz="1200" b="1">
                <a:solidFill>
                  <a:srgbClr val="0F172A"/>
                </a:solidFill>
              </a:defRPr>
            </a:pPr>
            <a:r>
              <a:t>Gmail History API (users.history.list) Sync</a:t>
            </a:r>
          </a:p>
          <a:p>
            <a:pPr>
              <a:spcBef>
                <a:spcPts val="400"/>
              </a:spcBef>
              <a:defRPr sz="1050">
                <a:solidFill>
                  <a:srgbClr val="64748B"/>
                </a:solidFill>
              </a:defRPr>
            </a:pPr>
            <a:r>
              <a:t>Track startHistoryId per mailbox to fetch only incremental email additions, reducing polling payload by another 50%.</a:t>
            </a:r>
          </a:p>
        </p:txBody>
      </p:sp>
      <p:sp>
        <p:nvSpPr>
          <p:cNvPr id="10" name="Rounded Rectangle 9"/>
          <p:cNvSpPr/>
          <p:nvPr/>
        </p:nvSpPr>
        <p:spPr>
          <a:xfrm>
            <a:off x="731520" y="4800600"/>
            <a:ext cx="10725912"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983480"/>
            <a:ext cx="10177272" cy="1097280"/>
          </a:xfrm>
          <a:prstGeom prst="rect">
            <a:avLst/>
          </a:prstGeom>
          <a:noFill/>
        </p:spPr>
        <p:txBody>
          <a:bodyPr wrap="square">
            <a:spAutoFit/>
          </a:bodyPr>
          <a:lstStyle/>
          <a:p>
            <a:pPr>
              <a:defRPr sz="1100" b="1">
                <a:solidFill>
                  <a:srgbClr val="2563EB"/>
                </a:solidFill>
              </a:defRPr>
            </a:pPr>
            <a:r>
              <a:t>PHASE 3 (LONG-TERM ARCHITECTURE)</a:t>
            </a:r>
          </a:p>
          <a:p>
            <a:pPr>
              <a:spcBef>
                <a:spcPts val="200"/>
              </a:spcBef>
              <a:defRPr sz="1200" b="1">
                <a:solidFill>
                  <a:srgbClr val="0F172A"/>
                </a:solidFill>
              </a:defRPr>
            </a:pPr>
            <a:r>
              <a:t>Event-Driven Real-Time Sync via Google Cloud Pub/Sub Webhooks (users.watch)</a:t>
            </a:r>
          </a:p>
          <a:p>
            <a:pPr>
              <a:spcBef>
                <a:spcPts val="400"/>
              </a:spcBef>
              <a:defRPr sz="1050">
                <a:solidFill>
                  <a:srgbClr val="64748B"/>
                </a:solidFill>
              </a:defRPr>
            </a:pPr>
            <a:r>
              <a:t>Real-time push notifications when replies land; eliminates periodic polling entirely for critical executive mailboxes.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0152" cy="1371600"/>
          </a:xfrm>
          <a:prstGeom prst="rect">
            <a:avLst/>
          </a:prstGeom>
          <a:noFill/>
        </p:spPr>
        <p:txBody>
          <a:bodyPr wrap="square">
            <a:spAutoFit/>
          </a:bodyPr>
          <a:lstStyle/>
          <a:p>
            <a:pPr algn="ctr">
              <a:defRPr sz="3200" b="1">
                <a:solidFill>
                  <a:srgbClr val="FFFFFF"/>
                </a:solidFill>
              </a:defRPr>
            </a:pPr>
            <a:r>
              <a:t>Summary &amp; Project Manager Q&amp;A</a:t>
            </a:r>
          </a:p>
          <a:p>
            <a:pPr algn="ctr">
              <a:spcBef>
                <a:spcPts val="600"/>
              </a:spcBef>
              <a:defRPr sz="1600">
                <a:solidFill>
                  <a:srgbClr val="94A3B8"/>
                </a:solidFill>
              </a:defRPr>
            </a:pPr>
            <a:r>
              <a:t>Ready to Address All Questions on Architecture, Accuracy &amp; Performance</a:t>
            </a:r>
          </a:p>
        </p:txBody>
      </p:sp>
      <p:sp>
        <p:nvSpPr>
          <p:cNvPr id="4" name="Rounded Rectangle 3"/>
          <p:cNvSpPr/>
          <p:nvPr/>
        </p:nvSpPr>
        <p:spPr>
          <a:xfrm>
            <a:off x="1371600" y="2651760"/>
            <a:ext cx="9445752" cy="3474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2834640"/>
            <a:ext cx="8897112" cy="3108960"/>
          </a:xfrm>
          <a:prstGeom prst="rect">
            <a:avLst/>
          </a:prstGeom>
          <a:noFill/>
        </p:spPr>
        <p:txBody>
          <a:bodyPr wrap="square">
            <a:spAutoFit/>
          </a:bodyPr>
          <a:lstStyle/>
          <a:p>
            <a:pPr>
              <a:defRPr sz="1200" b="1">
                <a:solidFill>
                  <a:srgbClr val="2563EB"/>
                </a:solidFill>
              </a:defRPr>
            </a:pPr>
            <a:r>
              <a:t>EXECUTIVE TAKEAWAYS</a:t>
            </a:r>
          </a:p>
          <a:p>
            <a:pPr>
              <a:spcBef>
                <a:spcPts val="800"/>
              </a:spcBef>
              <a:defRPr sz="1200">
                <a:solidFill>
                  <a:srgbClr val="CBD5E1"/>
                </a:solidFill>
              </a:defRPr>
            </a:pPr>
            <a:r>
              <a:t>1. Core Requirement Fulfilled: Automatic daily tracking of employee email response delays from critical offices.</a:t>
            </a:r>
          </a:p>
          <a:p>
            <a:pPr>
              <a:spcBef>
                <a:spcPts val="800"/>
              </a:spcBef>
              <a:defRPr sz="1200">
                <a:solidFill>
                  <a:srgbClr val="CBD5E1"/>
                </a:solidFill>
              </a:defRPr>
            </a:pPr>
            <a:r>
              <a:t>2. Thread Mechanics Proven: Gmail threads are single conversation entities; threads.get() retrieves the entire thread without date clipping.</a:t>
            </a:r>
          </a:p>
          <a:p>
            <a:pPr>
              <a:spcBef>
                <a:spcPts val="800"/>
              </a:spcBef>
              <a:defRPr sz="1200">
                <a:solidFill>
                  <a:srgbClr val="CBD5E1"/>
                </a:solidFill>
              </a:defRPr>
            </a:pPr>
            <a:r>
              <a:t>3. Zero-Reply Handling Validated: Unreplied emails are correctly captured and written to the database with NULL reply dates.</a:t>
            </a:r>
          </a:p>
          <a:p>
            <a:pPr>
              <a:spcBef>
                <a:spcPts val="800"/>
              </a:spcBef>
              <a:defRPr sz="1200">
                <a:solidFill>
                  <a:srgbClr val="CBD5E1"/>
                </a:solidFill>
              </a:defRPr>
            </a:pPr>
            <a:r>
              <a:t>4. Redundancy Defeated: In-memory thread caching (replyCache) delivers a 70%+ reduction in Google API calls.</a:t>
            </a:r>
          </a:p>
          <a:p>
            <a:pPr>
              <a:spcBef>
                <a:spcPts val="800"/>
              </a:spcBef>
              <a:defRPr sz="1200">
                <a:solidFill>
                  <a:srgbClr val="CBD5E1"/>
                </a:solidFill>
              </a:defRPr>
            </a:pPr>
            <a:r>
              <a:t>5. Production-Ready: Backed by MS SQL Server stored procedures and robust exception handling.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